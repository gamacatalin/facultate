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7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5"/>
  </p:notesMasterIdLst>
  <p:sldIdLst>
    <p:sldId id="256" r:id="rId2"/>
    <p:sldId id="258" r:id="rId3"/>
    <p:sldId id="281" r:id="rId4"/>
    <p:sldId id="259" r:id="rId5"/>
    <p:sldId id="260" r:id="rId6"/>
    <p:sldId id="257" r:id="rId7"/>
    <p:sldId id="261" r:id="rId8"/>
    <p:sldId id="262" r:id="rId9"/>
    <p:sldId id="286" r:id="rId10"/>
    <p:sldId id="264" r:id="rId11"/>
    <p:sldId id="272" r:id="rId12"/>
    <p:sldId id="273" r:id="rId13"/>
    <p:sldId id="274" r:id="rId14"/>
    <p:sldId id="276" r:id="rId15"/>
    <p:sldId id="287" r:id="rId16"/>
    <p:sldId id="288" r:id="rId17"/>
    <p:sldId id="277" r:id="rId18"/>
    <p:sldId id="289" r:id="rId19"/>
    <p:sldId id="290" r:id="rId20"/>
    <p:sldId id="265" r:id="rId21"/>
    <p:sldId id="266" r:id="rId22"/>
    <p:sldId id="267" r:id="rId23"/>
    <p:sldId id="268" r:id="rId24"/>
    <p:sldId id="270" r:id="rId25"/>
    <p:sldId id="269" r:id="rId26"/>
    <p:sldId id="271" r:id="rId27"/>
    <p:sldId id="280" r:id="rId28"/>
    <p:sldId id="279" r:id="rId29"/>
    <p:sldId id="284" r:id="rId30"/>
    <p:sldId id="285" r:id="rId31"/>
    <p:sldId id="278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301" autoAdjust="0"/>
    <p:restoredTop sz="94660"/>
  </p:normalViewPr>
  <p:slideViewPr>
    <p:cSldViewPr>
      <p:cViewPr varScale="1">
        <p:scale>
          <a:sx n="91" d="100"/>
          <a:sy n="91" d="100"/>
        </p:scale>
        <p:origin x="110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D2C23C6-1587-410E-9D11-210456A22052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4FD1C73-336B-4737-A19D-5867452D2E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77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7FBEF-2037-4BB4-9B3B-0BEBCC98404B}" type="slidenum">
              <a:rPr lang="en-US"/>
              <a:pPr eaLnBrk="1" hangingPunct="1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68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559932-B637-431D-9EED-3E96CE51D839}" type="slidenum">
              <a:rPr lang="en-US"/>
              <a:pPr eaLnBrk="1" hangingPunct="1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1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5DA81-10FC-4DF5-A72B-69A6D700E269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D89217EE-F022-49A6-9CCC-2E25D7D35F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9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B3CFA35-A6A7-4AC5-90B8-AA4C7DBDD978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61F1B40-EAFC-4D19-B5FC-7FB7F66013A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2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1A62D-3E96-4C9A-9239-8A4484E4B690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104B83F9-AA4F-44D9-B334-56FEA9091F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3D938-04A3-40CB-9716-F308B1BCC89F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E0B9F-F19E-4858-A80E-05C003843C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4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E85C0-0844-4119-8EBD-2DD3A51934BB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60741-43D9-4E2E-A953-FC2C78E810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DCBED1A-4EA9-4F96-A65C-5CE239EB5E38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E3D1FF-0C16-4EE6-9420-CFB05765F25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21F59-80E1-43D9-AE6F-B2179A4F5570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4AF863-9B36-4088-9B56-1544ED608F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CEB7A5-D102-4F5F-A919-B1BF3271C620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DE1973-373A-4F12-BB81-C38E40CD5E9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9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A724E1B-96BF-4197-988B-A17ACF8DE60E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D2E09A-90CC-4AB5-B8CB-A85A65FA14D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CC246-D360-49CE-BF82-E2569ED533D5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9AD42-98AD-44AA-8E5F-8657434208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2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46EDA-2188-4A84-91B8-1D0B746CB9A7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48E7DF-E7DD-4E67-8CFE-3D557EC408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9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28C5F2-2984-4CCB-8204-ACA75012E8DF}" type="datetimeFigureOut">
              <a:rPr lang="en-US"/>
              <a:pPr>
                <a:defRPr/>
              </a:pPr>
              <a:t>11/19/2020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ACB5B500-9B4D-4C63-8CDA-CFFBF09EC37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3994" r:id="rId4"/>
    <p:sldLayoutId id="2147483995" r:id="rId5"/>
    <p:sldLayoutId id="2147484002" r:id="rId6"/>
    <p:sldLayoutId id="2147483996" r:id="rId7"/>
    <p:sldLayoutId id="2147484003" r:id="rId8"/>
    <p:sldLayoutId id="2147484004" r:id="rId9"/>
    <p:sldLayoutId id="2147483997" r:id="rId10"/>
    <p:sldLayoutId id="21474839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05000"/>
            <a:ext cx="61722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Resolution Proof Method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3505200"/>
            <a:ext cx="6172200" cy="1371600"/>
          </a:xfrm>
        </p:spPr>
        <p:txBody>
          <a:bodyPr/>
          <a:lstStyle/>
          <a:p>
            <a:pPr eaLnBrk="1" hangingPunct="1"/>
            <a:r>
              <a:rPr lang="en-US" sz="2400" smtClean="0"/>
              <a:t>IN  PROPOSITIONAL 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Resolution Proof Method</a:t>
            </a:r>
            <a:endParaRPr lang="en-US" b="1" u="sng" dirty="0"/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05800" cy="4724400"/>
          </a:xfrm>
        </p:spPr>
        <p:txBody>
          <a:bodyPr/>
          <a:lstStyle/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was proposed by  J.A. Robinson in 1965 as a proof method for classical logics</a:t>
            </a:r>
          </a:p>
          <a:p>
            <a:pPr eaLnBrk="1" hangingPunct="1"/>
            <a:endParaRPr lang="en-US" sz="500" b="1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Dedicated theorem provers based on resolution: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</a:t>
            </a:r>
            <a:r>
              <a:rPr lang="en-US" sz="2200" b="1" smtClean="0">
                <a:latin typeface="Tahoma" panose="020B0604030504040204" pitchFamily="34" charset="0"/>
                <a:cs typeface="Tahoma" panose="020B0604030504040204" pitchFamily="34" charset="0"/>
              </a:rPr>
              <a:t>OTTER, PCPROOVE, AMPHION, Jape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was easily adapted to </a:t>
            </a:r>
            <a:r>
              <a:rPr lang="en-US" sz="2200" i="1" smtClean="0">
                <a:latin typeface="Tahoma" panose="020B0604030504040204" pitchFamily="34" charset="0"/>
                <a:cs typeface="Tahoma" panose="020B0604030504040204" pitchFamily="34" charset="0"/>
              </a:rPr>
              <a:t>nonstandard logics</a:t>
            </a: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(modal, temporal, many-valued, non-monotonic).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Its basic aim is to check the </a:t>
            </a:r>
            <a:r>
              <a:rPr lang="en-US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consistency/inconsistency</a:t>
            </a: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    of a set of clauses.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is based on syntactic considerations =&gt; </a:t>
            </a:r>
            <a:r>
              <a:rPr lang="en-US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syntactic method</a:t>
            </a:r>
          </a:p>
          <a:p>
            <a:pPr eaLnBrk="1" hangingPunct="1"/>
            <a:endParaRPr lang="en-US" sz="500" b="1" i="1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validity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 of a formula </a:t>
            </a:r>
            <a:r>
              <a:rPr lang="en-GB" sz="2200" b="1" smtClean="0">
                <a:latin typeface="Tahoma" panose="020B0604030504040204" pitchFamily="34" charset="0"/>
                <a:cs typeface="Tahoma" panose="020B0604030504040204" pitchFamily="34" charset="0"/>
              </a:rPr>
              <a:t>is proved by contradiction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                  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=&gt;</a:t>
            </a: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 refutation method</a:t>
            </a:r>
          </a:p>
          <a:p>
            <a:pPr eaLnBrk="1" hangingPunct="1"/>
            <a:endParaRPr lang="en-US" sz="22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747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/>
          <a:lstStyle/>
          <a:p>
            <a:pPr>
              <a:defRPr/>
            </a:pPr>
            <a:r>
              <a:rPr lang="en-US" sz="2200" b="1" u="sng" smtClean="0"/>
              <a:t>DECISION PROBLEMS</a:t>
            </a:r>
            <a:r>
              <a:rPr lang="en-US" sz="2200" smtClean="0"/>
              <a:t> </a:t>
            </a:r>
            <a:r>
              <a:rPr lang="en-US" sz="2200" b="1" smtClean="0"/>
              <a:t>IN</a:t>
            </a: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	        </a:t>
            </a:r>
            <a:r>
              <a:rPr lang="en-US" sz="2200" b="1" u="sng" smtClean="0"/>
              <a:t> PROPOSITIONAL/PREDICATE LOGIC</a:t>
            </a:r>
          </a:p>
        </p:txBody>
      </p:sp>
      <p:sp>
        <p:nvSpPr>
          <p:cNvPr id="1024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0207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i="1" u="sng" dirty="0" smtClean="0"/>
              <a:t>Resolution method 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- </a:t>
            </a:r>
            <a:r>
              <a:rPr lang="en-US" b="1" dirty="0" smtClean="0"/>
              <a:t>formal system for propositional logic -</a:t>
            </a: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47800"/>
            <a:ext cx="7620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Definitions</a:t>
            </a:r>
            <a:endParaRPr lang="en-US" b="1" u="sng" dirty="0"/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7848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73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i="1" u="sng" dirty="0" smtClean="0"/>
              <a:t>Algorithm</a:t>
            </a:r>
            <a:r>
              <a:rPr lang="en-US" b="1" u="sng" dirty="0" smtClean="0"/>
              <a:t>:</a:t>
            </a:r>
            <a:r>
              <a:rPr lang="en-US" b="1" i="1" dirty="0" smtClean="0"/>
              <a:t> </a:t>
            </a:r>
            <a:r>
              <a:rPr lang="en-US" sz="3300" b="1" dirty="0" err="1" smtClean="0"/>
              <a:t>propositional_resolution</a:t>
            </a:r>
            <a:r>
              <a:rPr lang="en-US" sz="3300" b="1" dirty="0" smtClean="0"/>
              <a:t/>
            </a:r>
            <a:br>
              <a:rPr lang="en-US" sz="3300" b="1" dirty="0" smtClean="0"/>
            </a:br>
            <a:endParaRPr lang="en-US" sz="3300" b="1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3914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Theorems</a:t>
            </a:r>
            <a:endParaRPr lang="en-US" b="1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76400"/>
            <a:ext cx="8305800" cy="4038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868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b="1" u="sng" dirty="0" smtClean="0"/>
              <a:t>Resolution</a:t>
            </a:r>
            <a:r>
              <a:rPr lang="ro-RO" dirty="0" smtClean="0"/>
              <a:t> </a:t>
            </a:r>
            <a:r>
              <a:rPr lang="en-US" dirty="0" smtClean="0"/>
              <a:t>-</a:t>
            </a:r>
            <a:r>
              <a:rPr lang="ro-RO" dirty="0" smtClean="0"/>
              <a:t> </a:t>
            </a:r>
            <a:r>
              <a:rPr lang="ro-RO" b="1" dirty="0" smtClean="0"/>
              <a:t>a refutation </a:t>
            </a:r>
            <a:r>
              <a:rPr lang="en-US" b="1" dirty="0" smtClean="0"/>
              <a:t>Proof </a:t>
            </a:r>
            <a:r>
              <a:rPr lang="ro-RO" b="1" dirty="0" smtClean="0"/>
              <a:t>method </a:t>
            </a:r>
            <a:endParaRPr lang="en-US" b="1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47800"/>
            <a:ext cx="7848600" cy="4267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2895600"/>
            <a:ext cx="8229600" cy="5794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685800"/>
            <a:ext cx="7685088" cy="2038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5046"/>
            <a:ext cx="3414713" cy="844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789" y="3455553"/>
            <a:ext cx="4022505" cy="844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912" y="4270611"/>
            <a:ext cx="5029200" cy="9351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86400"/>
            <a:ext cx="8141837" cy="8474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47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249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sz="3100" b="1" u="sng" dirty="0" smtClean="0"/>
              <a:t>Theorem</a:t>
            </a:r>
            <a:r>
              <a:rPr lang="ro-RO" sz="3100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ro-RO" sz="2700" b="1" dirty="0" smtClean="0"/>
              <a:t>(based on Davis-Putman procedure)</a:t>
            </a:r>
            <a:r>
              <a:rPr lang="en-US" sz="2700" b="1" dirty="0" smtClean="0"/>
              <a:t/>
            </a:r>
            <a:br>
              <a:rPr lang="en-US" sz="2700" b="1" dirty="0" smtClean="0"/>
            </a:br>
            <a:endParaRPr lang="en-US" sz="2700" b="1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447800"/>
            <a:ext cx="8153400" cy="42894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02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dirty="0" smtClean="0"/>
              <a:t>Strategies and Refinements of Resolution</a:t>
            </a:r>
            <a:endParaRPr lang="en-US" sz="2800" b="1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01000" cy="5178425"/>
          </a:xfrm>
        </p:spPr>
        <p:txBody>
          <a:bodyPr/>
          <a:lstStyle/>
          <a:p>
            <a:r>
              <a:rPr lang="en-GB" b="1" smtClean="0"/>
              <a:t>Strategies:</a:t>
            </a:r>
          </a:p>
          <a:p>
            <a:pPr lvl="1"/>
            <a:r>
              <a:rPr lang="en-GB" smtClean="0"/>
              <a:t>assure that all the possible clauses to be derived are generated </a:t>
            </a:r>
          </a:p>
          <a:p>
            <a:pPr lvl="1"/>
            <a:r>
              <a:rPr lang="en-GB" smtClean="0"/>
              <a:t>try to avoid the derivation of redundant and irrelevant clauses in order to obtain the empty clause.</a:t>
            </a:r>
          </a:p>
          <a:p>
            <a:pPr lvl="1"/>
            <a:r>
              <a:rPr lang="en-GB" b="1" smtClean="0"/>
              <a:t>level-saturation</a:t>
            </a:r>
            <a:r>
              <a:rPr lang="en-GB" smtClean="0"/>
              <a:t> strategy, </a:t>
            </a:r>
            <a:r>
              <a:rPr lang="en-GB" b="1" smtClean="0"/>
              <a:t>deletion </a:t>
            </a:r>
            <a:r>
              <a:rPr lang="en-GB" smtClean="0"/>
              <a:t>strategy,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GB" smtClean="0"/>
              <a:t>    </a:t>
            </a:r>
            <a:r>
              <a:rPr lang="en-GB" b="1" smtClean="0"/>
              <a:t>set-of-support</a:t>
            </a:r>
            <a:r>
              <a:rPr lang="en-GB" smtClean="0"/>
              <a:t> strategy</a:t>
            </a:r>
          </a:p>
          <a:p>
            <a:endParaRPr lang="en-GB" sz="600" b="1" smtClean="0"/>
          </a:p>
          <a:p>
            <a:r>
              <a:rPr lang="en-GB" b="1" smtClean="0"/>
              <a:t>Refinements</a:t>
            </a:r>
          </a:p>
          <a:p>
            <a:pPr lvl="1"/>
            <a:r>
              <a:rPr lang="en-US" sz="2200" smtClean="0"/>
              <a:t>make the resolution process more efficient by imposing  restrictions on the clashing clauses</a:t>
            </a:r>
          </a:p>
          <a:p>
            <a:pPr lvl="1"/>
            <a:r>
              <a:rPr lang="en-US" sz="2200" b="1" smtClean="0"/>
              <a:t>lock</a:t>
            </a:r>
            <a:r>
              <a:rPr lang="en-US" sz="2200" b="1" i="1" smtClean="0"/>
              <a:t> </a:t>
            </a:r>
            <a:r>
              <a:rPr lang="en-US" sz="2200" smtClean="0"/>
              <a:t>resolution,</a:t>
            </a:r>
            <a:r>
              <a:rPr lang="en-US" sz="2200" i="1" smtClean="0"/>
              <a:t> </a:t>
            </a:r>
            <a:r>
              <a:rPr lang="en-US" sz="2200" b="1" smtClean="0"/>
              <a:t>linear </a:t>
            </a:r>
            <a:r>
              <a:rPr lang="en-US" sz="2200" smtClean="0"/>
              <a:t>resolution</a:t>
            </a:r>
            <a:r>
              <a:rPr lang="en-US" sz="2200" i="1" smtClean="0"/>
              <a:t>,</a:t>
            </a:r>
            <a:r>
              <a:rPr lang="en-US" sz="2200" b="1" i="1" smtClean="0"/>
              <a:t>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US" sz="2200" b="1" i="1" smtClean="0"/>
              <a:t>    </a:t>
            </a:r>
            <a:r>
              <a:rPr lang="en-US" sz="2200" b="1" smtClean="0"/>
              <a:t>semantic </a:t>
            </a:r>
            <a:r>
              <a:rPr lang="en-US" sz="2200" smtClean="0"/>
              <a:t>resolution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Remarks</a:t>
            </a:r>
            <a:endParaRPr lang="en-US" sz="2400" b="1" u="sng" dirty="0"/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001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Strategies of Resolution</a:t>
            </a:r>
            <a:endParaRPr lang="en-US" sz="28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85" y="1600200"/>
            <a:ext cx="8458200" cy="23574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i="1" u="sng" dirty="0" smtClean="0"/>
              <a:t>Algorithm</a:t>
            </a:r>
            <a:r>
              <a:rPr lang="en-US" b="1" dirty="0" smtClean="0"/>
              <a:t>:</a:t>
            </a:r>
            <a:r>
              <a:rPr lang="ro-RO" b="1" i="1" dirty="0" smtClean="0"/>
              <a:t> </a:t>
            </a:r>
            <a:r>
              <a:rPr lang="ro-RO" sz="3100" b="1" dirty="0" smtClean="0"/>
              <a:t>level-saturation-strategy</a:t>
            </a:r>
            <a:endParaRPr lang="en-US" sz="3100" b="1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7772400" cy="5105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2</a:t>
            </a: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4850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6646"/>
            <a:ext cx="8077200" cy="174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3051174"/>
            <a:ext cx="4648200" cy="2647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81" y="3027081"/>
            <a:ext cx="3462048" cy="2611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22" y="5662894"/>
            <a:ext cx="8108156" cy="8354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5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89"/>
            <a:ext cx="7467600" cy="1143000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Strategies of </a:t>
            </a:r>
            <a:r>
              <a:rPr lang="en-US" sz="2800" b="1" u="sng" dirty="0" smtClean="0"/>
              <a:t>Resolution (contd.)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1"/>
            <a:ext cx="8286750" cy="34718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351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3. Modeling reasoning</a:t>
            </a:r>
            <a:endParaRPr lang="en-US" sz="2600" b="1" dirty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143000"/>
            <a:ext cx="83058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381000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Example 3</a:t>
            </a:r>
            <a:r>
              <a:rPr lang="en-US" sz="2400" b="1" dirty="0" smtClean="0"/>
              <a:t>. the set-of-support strategy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52474"/>
            <a:ext cx="8458200" cy="5724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862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85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563562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3. the set-of-support strategy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04516"/>
            <a:ext cx="8534400" cy="32864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01" y="4186688"/>
            <a:ext cx="8536799" cy="1600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01" y="5787338"/>
            <a:ext cx="8536799" cy="9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8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Lock Resolution</a:t>
            </a:r>
            <a:endParaRPr lang="en-US" b="1" u="sng" dirty="0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143000"/>
            <a:ext cx="8305800" cy="4572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15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Theorems</a:t>
            </a:r>
            <a:r>
              <a:rPr lang="en-US" dirty="0" smtClean="0"/>
              <a:t> – Lock resolution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524000"/>
            <a:ext cx="8153400" cy="4267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b="1" u="sng" dirty="0" smtClean="0"/>
              <a:t>Remarks</a:t>
            </a:r>
            <a:r>
              <a:rPr lang="en-US" u="sng" dirty="0" smtClean="0"/>
              <a:t/>
            </a:r>
            <a:br>
              <a:rPr lang="en-US" u="sng" dirty="0" smtClean="0"/>
            </a:br>
            <a:endParaRPr lang="en-US" u="sng" dirty="0"/>
          </a:p>
        </p:txBody>
      </p:sp>
      <p:sp>
        <p:nvSpPr>
          <p:cNvPr id="2662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b="1" dirty="0" smtClean="0"/>
              <a:t>Example 4</a:t>
            </a:r>
            <a:endParaRPr lang="en-US" sz="2600" b="1" dirty="0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077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1404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b="1" u="sng" dirty="0" smtClean="0"/>
              <a:t>Example 5</a:t>
            </a:r>
            <a:endParaRPr lang="en-US" sz="2600" b="1" u="sng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01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dirty="0" smtClean="0"/>
              <a:t>Examples</a:t>
            </a:r>
            <a:r>
              <a:rPr lang="en-US" sz="2800" dirty="0" smtClean="0"/>
              <a:t> (Homework)</a:t>
            </a:r>
            <a:endParaRPr lang="en-US" sz="2800" dirty="0"/>
          </a:p>
        </p:txBody>
      </p:sp>
      <p:sp>
        <p:nvSpPr>
          <p:cNvPr id="29699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75438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97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620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dirty="0" smtClean="0"/>
              <a:t>Linear Resolution </a:t>
            </a:r>
            <a:r>
              <a:rPr lang="en-US" sz="2800" dirty="0" smtClean="0"/>
              <a:t>(Loveland 1971)</a:t>
            </a:r>
            <a:endParaRPr lang="en-US" sz="28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990600"/>
            <a:ext cx="7086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603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Theoretical results</a:t>
            </a:r>
            <a:endParaRPr lang="en-US" sz="2600" b="1" dirty="0"/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7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sz="2600" b="1" u="sng" dirty="0" smtClean="0"/>
              <a:t>Special cases of linear resolution</a:t>
            </a:r>
            <a:r>
              <a:rPr lang="en-US" b="1" u="sng" dirty="0" smtClean="0"/>
              <a:t/>
            </a:r>
            <a:br>
              <a:rPr lang="en-US" b="1" u="sng" dirty="0" smtClean="0"/>
            </a:br>
            <a:endParaRPr lang="en-US" b="1" u="sng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8704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Theoretical results</a:t>
            </a:r>
            <a:endParaRPr lang="en-US" sz="2600" b="1" dirty="0"/>
          </a:p>
        </p:txBody>
      </p:sp>
      <p:pic>
        <p:nvPicPr>
          <p:cNvPr id="3379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01000" cy="4343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960" y="228600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Theoretical results</a:t>
            </a:r>
            <a:endParaRPr lang="en-US" sz="2600" dirty="0"/>
          </a:p>
        </p:txBody>
      </p:sp>
      <p:sp>
        <p:nvSpPr>
          <p:cNvPr id="348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229600" cy="472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921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6</a:t>
            </a:r>
            <a:endParaRPr lang="en-US" sz="2600" b="1" dirty="0"/>
          </a:p>
        </p:txBody>
      </p:sp>
      <p:pic>
        <p:nvPicPr>
          <p:cNvPr id="358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295400"/>
            <a:ext cx="7620000" cy="475138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04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86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3058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8</a:t>
            </a:r>
            <a:r>
              <a:rPr lang="en-US" sz="3200" b="1" dirty="0" smtClean="0"/>
              <a:t>. Modeling reasoning</a:t>
            </a:r>
            <a:endParaRPr lang="en-US" dirty="0"/>
          </a:p>
        </p:txBody>
      </p:sp>
      <p:pic>
        <p:nvPicPr>
          <p:cNvPr id="378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8077200" cy="3962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73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BE7F59-A96B-42EC-BA0F-32D1A6BCD1D0}"/>
</file>

<file path=customXml/itemProps2.xml><?xml version="1.0" encoding="utf-8"?>
<ds:datastoreItem xmlns:ds="http://schemas.openxmlformats.org/officeDocument/2006/customXml" ds:itemID="{2984B59B-2544-4334-8B19-8F3CBBA25D06}"/>
</file>

<file path=customXml/itemProps3.xml><?xml version="1.0" encoding="utf-8"?>
<ds:datastoreItem xmlns:ds="http://schemas.openxmlformats.org/officeDocument/2006/customXml" ds:itemID="{1E088540-4A62-4D17-8C5C-8662363AB1FA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2625</TotalTime>
  <Words>253</Words>
  <Application>Microsoft Office PowerPoint</Application>
  <PresentationFormat>On-screen Show (4:3)</PresentationFormat>
  <Paragraphs>58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Century Schoolbook</vt:lpstr>
      <vt:lpstr>Tahoma</vt:lpstr>
      <vt:lpstr>Wingdings</vt:lpstr>
      <vt:lpstr>Wingdings 2</vt:lpstr>
      <vt:lpstr>Oriel</vt:lpstr>
      <vt:lpstr>Resolution Proof Method</vt:lpstr>
      <vt:lpstr>Resolution Proof Method</vt:lpstr>
      <vt:lpstr>DECISION PROBLEMS IN           PROPOSITIONAL/PREDICATE LOGIC</vt:lpstr>
      <vt:lpstr>Resolution method  - formal system for propositional logic -</vt:lpstr>
      <vt:lpstr>Definitions</vt:lpstr>
      <vt:lpstr>Algorithm: propositional_resolution </vt:lpstr>
      <vt:lpstr>Theorems</vt:lpstr>
      <vt:lpstr>Resolution - a refutation Proof method </vt:lpstr>
      <vt:lpstr>Example 1</vt:lpstr>
      <vt:lpstr>Theorem    (based on Davis-Putman procedure) </vt:lpstr>
      <vt:lpstr>Strategies and Refinements of Resolution</vt:lpstr>
      <vt:lpstr>Remarks</vt:lpstr>
      <vt:lpstr>Strategies of Resolution</vt:lpstr>
      <vt:lpstr>Algorithm: level-saturation-strategy</vt:lpstr>
      <vt:lpstr>Example 2</vt:lpstr>
      <vt:lpstr>Strategies of Resolution (contd.)</vt:lpstr>
      <vt:lpstr>Example 3. Modeling reasoning</vt:lpstr>
      <vt:lpstr>Example 3. the set-of-support strategy</vt:lpstr>
      <vt:lpstr>Example 3. the set-of-support strategy</vt:lpstr>
      <vt:lpstr>Lock Resolution</vt:lpstr>
      <vt:lpstr>Theorems – Lock resolution</vt:lpstr>
      <vt:lpstr>Remarks </vt:lpstr>
      <vt:lpstr>Example 4</vt:lpstr>
      <vt:lpstr>Example 5</vt:lpstr>
      <vt:lpstr>Examples (Homework)</vt:lpstr>
      <vt:lpstr>Linear Resolution (Loveland 1971)</vt:lpstr>
      <vt:lpstr>Theoretical results</vt:lpstr>
      <vt:lpstr>Special cases of linear resolution </vt:lpstr>
      <vt:lpstr>Theoretical results</vt:lpstr>
      <vt:lpstr>Theoretical results</vt:lpstr>
      <vt:lpstr>Example 6</vt:lpstr>
      <vt:lpstr>PowerPoint Presentation</vt:lpstr>
      <vt:lpstr>Example 8. Modeling reasoning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103</cp:revision>
  <dcterms:created xsi:type="dcterms:W3CDTF">2017-11-14T13:30:18Z</dcterms:created>
  <dcterms:modified xsi:type="dcterms:W3CDTF">2020-11-19T13:34:52Z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