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8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Layouts/slideLayout4.xml" ContentType="application/vnd.openxmlformats-officedocument.presentationml.slideLayout+xml"/>
  <Override PartName="/ppt/notesSlides/notesSlide2.xml" ContentType="application/vnd.openxmlformats-officedocument.presentationml.notesSlide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notesMasterIdLst>
    <p:notesMasterId r:id="rId24"/>
  </p:notesMasterIdLst>
  <p:sldIdLst>
    <p:sldId id="260" r:id="rId2"/>
    <p:sldId id="272" r:id="rId3"/>
    <p:sldId id="282" r:id="rId4"/>
    <p:sldId id="273" r:id="rId5"/>
    <p:sldId id="274" r:id="rId6"/>
    <p:sldId id="275" r:id="rId7"/>
    <p:sldId id="276" r:id="rId8"/>
    <p:sldId id="277" r:id="rId9"/>
    <p:sldId id="278" r:id="rId10"/>
    <p:sldId id="283" r:id="rId11"/>
    <p:sldId id="279" r:id="rId12"/>
    <p:sldId id="280" r:id="rId13"/>
    <p:sldId id="281" r:id="rId14"/>
    <p:sldId id="263" r:id="rId15"/>
    <p:sldId id="264" r:id="rId16"/>
    <p:sldId id="261" r:id="rId17"/>
    <p:sldId id="265" r:id="rId18"/>
    <p:sldId id="266" r:id="rId19"/>
    <p:sldId id="267" r:id="rId20"/>
    <p:sldId id="268" r:id="rId21"/>
    <p:sldId id="269" r:id="rId22"/>
    <p:sldId id="270" r:id="rId23"/>
  </p:sldIdLst>
  <p:sldSz cx="9144000" cy="6858000" type="screen4x3"/>
  <p:notesSz cx="6858000" cy="9144000"/>
  <p:defaultTextStyle>
    <a:defPPr>
      <a:defRPr lang="ro-RO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72" y="21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FC9F0CB3-22F1-40E7-A23F-C8F947F73484}" type="datetimeFigureOut">
              <a:rPr lang="en-US"/>
              <a:pPr>
                <a:defRPr/>
              </a:pPr>
              <a:t>11/22/2020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488E1F71-045E-4180-8B23-FF7A86A0831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0344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smtClean="0"/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43BEC078-A189-49BC-B809-883CDE1E5070}" type="slidenum">
              <a:rPr lang="en-US"/>
              <a:pPr eaLnBrk="1" hangingPunct="1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8582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smtClean="0"/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fld id="{294E88A8-1F7E-4BFA-ADF5-7219F3183883}" type="slidenum">
              <a:rPr lang="en-US"/>
              <a:pPr eaLnBrk="1" hangingPunct="1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1037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4609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ro-RO"/>
              <a:t>Click to edit Master title style</a:t>
            </a:r>
          </a:p>
        </p:txBody>
      </p:sp>
      <p:sp>
        <p:nvSpPr>
          <p:cNvPr id="4609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ro-RO"/>
              <a:t>Click to edit Master subtitle style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9906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573937BC-A29A-407C-9E66-C8341A6F532B}" type="slidenum">
              <a:rPr lang="ro-RO"/>
              <a:pPr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6477731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1494A5-780B-43B2-9538-1D2F4AC5BDD0}" type="slidenum">
              <a:rPr lang="ro-RO"/>
              <a:pPr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945531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85775D8-9FAE-4FC6-940E-C2804726AE50}" type="slidenum">
              <a:rPr lang="ro-RO"/>
              <a:pPr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184263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B1CA7C1-140E-4CD6-8969-42D2AA6DC00F}" type="slidenum">
              <a:rPr lang="ro-RO"/>
              <a:pPr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115471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D8E6A0A-8685-456C-AF04-6F8CA419AAD9}" type="slidenum">
              <a:rPr lang="ro-RO"/>
              <a:pPr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4094342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564DDB2-6DAC-4560-A24D-ADCB6B3C23FA}" type="slidenum">
              <a:rPr lang="ro-RO"/>
              <a:pPr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25303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030A2CE-8BC2-4168-9C8E-BABD00A28A56}" type="slidenum">
              <a:rPr lang="ro-RO"/>
              <a:pPr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946959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FAC4B6B-9CA8-46C5-9676-0A32F1EAB06A}" type="slidenum">
              <a:rPr lang="ro-RO"/>
              <a:pPr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3909252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EBA9069-B461-4E48-B33F-5DEB9BB89C27}" type="slidenum">
              <a:rPr lang="ro-RO"/>
              <a:pPr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0779942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274C9E-0621-48F5-818B-EDF77F4A8E3E}" type="slidenum">
              <a:rPr lang="ro-RO"/>
              <a:pPr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7828815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4050" y="214313"/>
            <a:ext cx="1951038" cy="59182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0938" y="214313"/>
            <a:ext cx="5700712" cy="5918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DAB65C8-A24F-48CD-9206-790917AB3BC0}" type="slidenum">
              <a:rPr lang="ro-RO"/>
              <a:pPr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366440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1182688" y="2017713"/>
            <a:ext cx="7772400" cy="4114800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EACD82A-3934-4C56-9B81-04A60EF2FD07}" type="slidenum">
              <a:rPr lang="ro-RO"/>
              <a:pPr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927975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ChangeArrowheads="1"/>
          </p:cNvSpPr>
          <p:nvPr/>
        </p:nvSpPr>
        <p:spPr bwMode="ltGray">
          <a:xfrm>
            <a:off x="417513" y="1098550"/>
            <a:ext cx="438150" cy="474663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en-US" sz="2400"/>
          </a:p>
        </p:txBody>
      </p:sp>
      <p:sp>
        <p:nvSpPr>
          <p:cNvPr id="45059" name="Rectangle 3"/>
          <p:cNvSpPr>
            <a:spLocks noChangeArrowheads="1"/>
          </p:cNvSpPr>
          <p:nvPr/>
        </p:nvSpPr>
        <p:spPr bwMode="ltGray">
          <a:xfrm>
            <a:off x="800100" y="1098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en-US" sz="2400"/>
          </a:p>
        </p:txBody>
      </p:sp>
      <p:sp>
        <p:nvSpPr>
          <p:cNvPr id="45060" name="Rectangle 4"/>
          <p:cNvSpPr>
            <a:spLocks noChangeArrowheads="1"/>
          </p:cNvSpPr>
          <p:nvPr/>
        </p:nvSpPr>
        <p:spPr bwMode="ltGray">
          <a:xfrm>
            <a:off x="541338" y="1520825"/>
            <a:ext cx="422275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en-US" sz="2400"/>
          </a:p>
        </p:txBody>
      </p:sp>
      <p:sp>
        <p:nvSpPr>
          <p:cNvPr id="45061" name="Rectangle 5"/>
          <p:cNvSpPr>
            <a:spLocks noChangeArrowheads="1"/>
          </p:cNvSpPr>
          <p:nvPr/>
        </p:nvSpPr>
        <p:spPr bwMode="ltGray">
          <a:xfrm>
            <a:off x="911225" y="1520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en-US" sz="2400"/>
          </a:p>
        </p:txBody>
      </p:sp>
      <p:sp>
        <p:nvSpPr>
          <p:cNvPr id="45062" name="Rectangle 6"/>
          <p:cNvSpPr>
            <a:spLocks noChangeArrowheads="1"/>
          </p:cNvSpPr>
          <p:nvPr/>
        </p:nvSpPr>
        <p:spPr bwMode="ltGray">
          <a:xfrm>
            <a:off x="127000" y="1447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en-US" sz="2400"/>
          </a:p>
        </p:txBody>
      </p:sp>
      <p:sp>
        <p:nvSpPr>
          <p:cNvPr id="45063" name="Rectangle 7"/>
          <p:cNvSpPr>
            <a:spLocks noChangeArrowheads="1"/>
          </p:cNvSpPr>
          <p:nvPr/>
        </p:nvSpPr>
        <p:spPr bwMode="gray">
          <a:xfrm>
            <a:off x="762000" y="990600"/>
            <a:ext cx="31750" cy="1052513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en-US" sz="2400"/>
          </a:p>
        </p:txBody>
      </p:sp>
      <p:sp>
        <p:nvSpPr>
          <p:cNvPr id="45064" name="Rectangle 8"/>
          <p:cNvSpPr>
            <a:spLocks noChangeArrowheads="1"/>
          </p:cNvSpPr>
          <p:nvPr/>
        </p:nvSpPr>
        <p:spPr bwMode="gray">
          <a:xfrm>
            <a:off x="442913" y="1781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kumimoji="1" lang="en-US" sz="2400"/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50938" y="214313"/>
            <a:ext cx="7793037" cy="1462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ro-RO" smtClean="0"/>
              <a:t>Click to edit Master title style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82688" y="2017713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o-RO" smtClean="0"/>
              <a:t>Click to edit Master text styles</a:t>
            </a:r>
          </a:p>
          <a:p>
            <a:pPr lvl="1"/>
            <a:r>
              <a:rPr lang="ro-RO" smtClean="0"/>
              <a:t>Second level</a:t>
            </a:r>
          </a:p>
          <a:p>
            <a:pPr lvl="2"/>
            <a:r>
              <a:rPr lang="ro-RO" smtClean="0"/>
              <a:t>Third level</a:t>
            </a:r>
          </a:p>
          <a:p>
            <a:pPr lvl="3"/>
            <a:r>
              <a:rPr lang="ro-RO" smtClean="0"/>
              <a:t>Fourth level</a:t>
            </a:r>
          </a:p>
          <a:p>
            <a:pPr lvl="4"/>
            <a:r>
              <a:rPr lang="ro-RO" smtClean="0"/>
              <a:t>Fifth level</a:t>
            </a:r>
          </a:p>
        </p:txBody>
      </p:sp>
      <p:sp>
        <p:nvSpPr>
          <p:cNvPr id="45067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1620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45068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657600" y="6243638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ro-RO"/>
          </a:p>
        </p:txBody>
      </p:sp>
      <p:sp>
        <p:nvSpPr>
          <p:cNvPr id="45069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42150" y="6243638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F20F78F9-193B-4853-90FD-646D8ADBE044}" type="slidenum">
              <a:rPr lang="ro-RO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2" r:id="rId1"/>
    <p:sldLayoutId id="2147483781" r:id="rId2"/>
    <p:sldLayoutId id="2147483782" r:id="rId3"/>
    <p:sldLayoutId id="2147483783" r:id="rId4"/>
    <p:sldLayoutId id="2147483784" r:id="rId5"/>
    <p:sldLayoutId id="2147483785" r:id="rId6"/>
    <p:sldLayoutId id="2147483786" r:id="rId7"/>
    <p:sldLayoutId id="2147483787" r:id="rId8"/>
    <p:sldLayoutId id="2147483788" r:id="rId9"/>
    <p:sldLayoutId id="2147483789" r:id="rId10"/>
    <p:sldLayoutId id="2147483790" r:id="rId11"/>
    <p:sldLayoutId id="2147483791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>
          <a:xfrm>
            <a:off x="1150938" y="914400"/>
            <a:ext cx="7793037" cy="838200"/>
          </a:xfrm>
        </p:spPr>
        <p:txBody>
          <a:bodyPr/>
          <a:lstStyle/>
          <a:p>
            <a:pPr eaLnBrk="1" hangingPunct="1"/>
            <a:r>
              <a:rPr lang="en-US" sz="4000" smtClean="0"/>
              <a:t>Resolution in predicate Logic</a:t>
            </a:r>
            <a:br>
              <a:rPr lang="en-US" sz="4000" smtClean="0"/>
            </a:br>
            <a:endParaRPr lang="ro-RO" sz="4000" smtClean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idx="1"/>
          </p:nvPr>
        </p:nvSpPr>
        <p:spPr>
          <a:xfrm>
            <a:off x="304800" y="1981200"/>
            <a:ext cx="8610600" cy="4114800"/>
          </a:xfrm>
        </p:spPr>
        <p:txBody>
          <a:bodyPr/>
          <a:lstStyle/>
          <a:p>
            <a:pPr eaLnBrk="1" hangingPunct="1">
              <a:lnSpc>
                <a:spcPct val="200000"/>
              </a:lnSpc>
            </a:pPr>
            <a:r>
              <a:rPr lang="en-US" sz="2400" b="1" i="1" smtClean="0"/>
              <a:t>Normal forms of predicate (first-order) formulas</a:t>
            </a:r>
          </a:p>
          <a:p>
            <a:pPr lvl="1" eaLnBrk="1" hangingPunct="1">
              <a:lnSpc>
                <a:spcPct val="200000"/>
              </a:lnSpc>
            </a:pPr>
            <a:r>
              <a:rPr lang="en-US" sz="2200" b="1" smtClean="0"/>
              <a:t>prenex, Skolem, clausal normal forms</a:t>
            </a:r>
          </a:p>
          <a:p>
            <a:pPr eaLnBrk="1" hangingPunct="1">
              <a:lnSpc>
                <a:spcPct val="200000"/>
              </a:lnSpc>
            </a:pPr>
            <a:r>
              <a:rPr lang="en-US" sz="2400" b="1" i="1" smtClean="0"/>
              <a:t>Substitutions and unifiers</a:t>
            </a:r>
          </a:p>
          <a:p>
            <a:pPr eaLnBrk="1" hangingPunct="1">
              <a:lnSpc>
                <a:spcPct val="200000"/>
              </a:lnSpc>
            </a:pPr>
            <a:r>
              <a:rPr lang="en-US" sz="2400" b="1" i="1" smtClean="0"/>
              <a:t>Resolution formal system</a:t>
            </a:r>
          </a:p>
          <a:p>
            <a:pPr eaLnBrk="1" hangingPunct="1">
              <a:lnSpc>
                <a:spcPct val="200000"/>
              </a:lnSpc>
            </a:pPr>
            <a:r>
              <a:rPr lang="en-US" sz="2400" b="1" i="1" smtClean="0"/>
              <a:t>Refinements of predicate resolution</a:t>
            </a:r>
          </a:p>
          <a:p>
            <a:pPr eaLnBrk="1" hangingPunct="1"/>
            <a:endParaRPr lang="ro-RO" sz="2400" b="1" i="1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8988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547687"/>
          </a:xfrm>
        </p:spPr>
        <p:txBody>
          <a:bodyPr/>
          <a:lstStyle/>
          <a:p>
            <a:r>
              <a:rPr lang="en-US" sz="2400" b="1" smtClean="0"/>
              <a:t>Prenex normal form</a:t>
            </a:r>
          </a:p>
        </p:txBody>
      </p:sp>
      <p:pic>
        <p:nvPicPr>
          <p:cNvPr id="4099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85800" y="838200"/>
            <a:ext cx="8077200" cy="5410200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8988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1038225" y="762000"/>
            <a:ext cx="8105775" cy="1081088"/>
          </a:xfrm>
        </p:spPr>
        <p:txBody>
          <a:bodyPr/>
          <a:lstStyle/>
          <a:p>
            <a:r>
              <a:rPr lang="en-US" sz="2800" b="1" smtClean="0"/>
              <a:t>Extraction of quantifiers</a:t>
            </a:r>
            <a:br>
              <a:rPr lang="en-US" sz="2800" b="1" smtClean="0"/>
            </a:br>
            <a:r>
              <a:rPr lang="en-US" sz="2800" b="1" smtClean="0"/>
              <a:t>                                 in front of the formula</a:t>
            </a:r>
            <a:r>
              <a:rPr lang="en-US" sz="2800" smtClean="0"/>
              <a:t/>
            </a:r>
            <a:br>
              <a:rPr lang="en-US" sz="2800" smtClean="0"/>
            </a:br>
            <a:endParaRPr lang="en-US" sz="2800" smtClean="0"/>
          </a:p>
        </p:txBody>
      </p:sp>
      <p:pic>
        <p:nvPicPr>
          <p:cNvPr id="5123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14400" y="1981200"/>
            <a:ext cx="7772400" cy="3505200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8988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1350963" y="0"/>
            <a:ext cx="7793037" cy="700088"/>
          </a:xfrm>
        </p:spPr>
        <p:txBody>
          <a:bodyPr/>
          <a:lstStyle/>
          <a:p>
            <a:r>
              <a:rPr lang="en-US" sz="2800" b="1" smtClean="0"/>
              <a:t>Skolem and clausal normal forms</a:t>
            </a:r>
          </a:p>
        </p:txBody>
      </p:sp>
      <p:pic>
        <p:nvPicPr>
          <p:cNvPr id="6147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85800" y="838200"/>
            <a:ext cx="8153400" cy="5562600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8988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700087"/>
          </a:xfrm>
        </p:spPr>
        <p:txBody>
          <a:bodyPr/>
          <a:lstStyle/>
          <a:p>
            <a:r>
              <a:rPr lang="en-US" sz="2800" b="1" smtClean="0"/>
              <a:t>Theoretical results</a:t>
            </a:r>
          </a:p>
        </p:txBody>
      </p:sp>
      <p:sp>
        <p:nvSpPr>
          <p:cNvPr id="7171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mtClean="0"/>
          </a:p>
        </p:txBody>
      </p:sp>
      <p:pic>
        <p:nvPicPr>
          <p:cNvPr id="7172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143000"/>
            <a:ext cx="7924800" cy="510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8988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>
          <a:xfrm>
            <a:off x="227013" y="214313"/>
            <a:ext cx="8181975" cy="395287"/>
          </a:xfrm>
        </p:spPr>
        <p:txBody>
          <a:bodyPr/>
          <a:lstStyle/>
          <a:p>
            <a:r>
              <a:rPr lang="en-US" sz="2800" b="1" dirty="0" smtClean="0"/>
              <a:t>Example 1</a:t>
            </a:r>
            <a:r>
              <a:rPr lang="en-US" sz="2800" dirty="0" smtClean="0"/>
              <a:t> </a:t>
            </a:r>
            <a:r>
              <a:rPr lang="en-US" sz="2000" dirty="0" smtClean="0"/>
              <a:t>Transform into normal forms the formula:</a:t>
            </a:r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639763"/>
            <a:ext cx="51244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mtClean="0"/>
          </a:p>
        </p:txBody>
      </p:sp>
      <p:pic>
        <p:nvPicPr>
          <p:cNvPr id="8197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143000"/>
            <a:ext cx="8382000" cy="533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8988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>
          <a:xfrm>
            <a:off x="762000" y="214313"/>
            <a:ext cx="8181975" cy="623887"/>
          </a:xfrm>
        </p:spPr>
        <p:txBody>
          <a:bodyPr/>
          <a:lstStyle/>
          <a:p>
            <a:r>
              <a:rPr lang="en-US" sz="2800" b="1" smtClean="0"/>
              <a:t>Example 2</a:t>
            </a:r>
          </a:p>
        </p:txBody>
      </p:sp>
      <p:pic>
        <p:nvPicPr>
          <p:cNvPr id="9219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38200" y="914400"/>
            <a:ext cx="7848600" cy="5410200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8988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471487"/>
          </a:xfrm>
        </p:spPr>
        <p:txBody>
          <a:bodyPr/>
          <a:lstStyle/>
          <a:p>
            <a:r>
              <a:rPr lang="en-US" sz="2800" b="1" smtClean="0"/>
              <a:t>Substitutions</a:t>
            </a:r>
          </a:p>
        </p:txBody>
      </p:sp>
      <p:pic>
        <p:nvPicPr>
          <p:cNvPr id="10243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38200" y="914400"/>
            <a:ext cx="7924800" cy="5410200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8988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471487"/>
          </a:xfrm>
        </p:spPr>
        <p:txBody>
          <a:bodyPr/>
          <a:lstStyle/>
          <a:p>
            <a:r>
              <a:rPr lang="en-US" sz="2800" b="1" smtClean="0"/>
              <a:t>Substitutions and unifiers</a:t>
            </a:r>
          </a:p>
        </p:txBody>
      </p:sp>
      <p:sp>
        <p:nvSpPr>
          <p:cNvPr id="11267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mtClean="0"/>
          </a:p>
        </p:txBody>
      </p:sp>
      <p:pic>
        <p:nvPicPr>
          <p:cNvPr id="11268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838200"/>
            <a:ext cx="8001000" cy="556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8988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309687"/>
          </a:xfrm>
        </p:spPr>
        <p:txBody>
          <a:bodyPr/>
          <a:lstStyle/>
          <a:p>
            <a:r>
              <a:rPr lang="en-US" sz="2800" b="1" smtClean="0"/>
              <a:t>Example 3</a:t>
            </a:r>
          </a:p>
        </p:txBody>
      </p:sp>
      <p:pic>
        <p:nvPicPr>
          <p:cNvPr id="12291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66800" y="1981200"/>
            <a:ext cx="7315200" cy="3886200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8988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776287"/>
          </a:xfrm>
        </p:spPr>
        <p:txBody>
          <a:bodyPr/>
          <a:lstStyle/>
          <a:p>
            <a:r>
              <a:rPr lang="en-GB" sz="2000" b="1" i="1" smtClean="0"/>
              <a:t>Algorithm for computing the mgu of two literals </a:t>
            </a:r>
            <a:r>
              <a:rPr lang="en-US" sz="2000" b="1" smtClean="0"/>
              <a:t/>
            </a:r>
            <a:br>
              <a:rPr lang="en-US" sz="2000" b="1" smtClean="0"/>
            </a:br>
            <a:endParaRPr lang="en-US" sz="2000" b="1" smtClean="0"/>
          </a:p>
        </p:txBody>
      </p:sp>
      <p:pic>
        <p:nvPicPr>
          <p:cNvPr id="13315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38200" y="955249"/>
            <a:ext cx="8001000" cy="5334000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8988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>
          <a:xfrm>
            <a:off x="838200" y="214313"/>
            <a:ext cx="8105775" cy="547687"/>
          </a:xfrm>
        </p:spPr>
        <p:txBody>
          <a:bodyPr/>
          <a:lstStyle/>
          <a:p>
            <a:r>
              <a:rPr lang="en-US" sz="2800" b="1" smtClean="0"/>
              <a:t>Example 4</a:t>
            </a:r>
          </a:p>
        </p:txBody>
      </p:sp>
      <p:pic>
        <p:nvPicPr>
          <p:cNvPr id="14339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38200" y="838200"/>
            <a:ext cx="7772400" cy="5715000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8988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>
          <a:xfrm>
            <a:off x="838200" y="214313"/>
            <a:ext cx="8105775" cy="547687"/>
          </a:xfrm>
        </p:spPr>
        <p:txBody>
          <a:bodyPr/>
          <a:lstStyle/>
          <a:p>
            <a:r>
              <a:rPr lang="en-US" sz="2800" b="1" smtClean="0"/>
              <a:t>Example 5</a:t>
            </a:r>
          </a:p>
        </p:txBody>
      </p:sp>
      <p:pic>
        <p:nvPicPr>
          <p:cNvPr id="15363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2000" y="914400"/>
            <a:ext cx="8077200" cy="5334000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8988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>
          <a:xfrm>
            <a:off x="838200" y="214313"/>
            <a:ext cx="8105775" cy="1081087"/>
          </a:xfrm>
        </p:spPr>
        <p:txBody>
          <a:bodyPr/>
          <a:lstStyle/>
          <a:p>
            <a:r>
              <a:rPr lang="en-US" sz="2800" smtClean="0">
                <a:latin typeface="Aharoni" pitchFamily="2" charset="-79"/>
                <a:cs typeface="Aharoni" pitchFamily="2" charset="-79"/>
              </a:rPr>
              <a:t>Predicate resolution </a:t>
            </a:r>
            <a:br>
              <a:rPr lang="en-US" sz="2800" smtClean="0">
                <a:latin typeface="Aharoni" pitchFamily="2" charset="-79"/>
                <a:cs typeface="Aharoni" pitchFamily="2" charset="-79"/>
              </a:rPr>
            </a:br>
            <a:r>
              <a:rPr lang="en-US" sz="2800" smtClean="0">
                <a:latin typeface="Aharoni" pitchFamily="2" charset="-79"/>
                <a:cs typeface="Aharoni" pitchFamily="2" charset="-79"/>
              </a:rPr>
              <a:t>		- </a:t>
            </a:r>
            <a:r>
              <a:rPr lang="en-US" sz="2800" u="sng" smtClean="0">
                <a:latin typeface="Aharoni" pitchFamily="2" charset="-79"/>
                <a:cs typeface="Aharoni" pitchFamily="2" charset="-79"/>
              </a:rPr>
              <a:t>formal (axiomatic system) </a:t>
            </a:r>
            <a:r>
              <a:rPr lang="en-US" sz="2800" smtClean="0">
                <a:latin typeface="Aharoni" pitchFamily="2" charset="-79"/>
                <a:cs typeface="Aharoni" pitchFamily="2" charset="-79"/>
              </a:rPr>
              <a:t>-</a:t>
            </a:r>
          </a:p>
        </p:txBody>
      </p:sp>
      <p:pic>
        <p:nvPicPr>
          <p:cNvPr id="16387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38200" y="1371600"/>
            <a:ext cx="7924800" cy="5029200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8988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>
          <a:xfrm>
            <a:off x="762000" y="214313"/>
            <a:ext cx="8181975" cy="623887"/>
          </a:xfrm>
        </p:spPr>
        <p:txBody>
          <a:bodyPr/>
          <a:lstStyle/>
          <a:p>
            <a:r>
              <a:rPr lang="en-US" sz="2800" b="1" smtClean="0"/>
              <a:t>Definitions</a:t>
            </a:r>
          </a:p>
        </p:txBody>
      </p:sp>
      <p:pic>
        <p:nvPicPr>
          <p:cNvPr id="17411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62000" y="914400"/>
            <a:ext cx="8153400" cy="5562600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8988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547687"/>
          </a:xfrm>
        </p:spPr>
        <p:txBody>
          <a:bodyPr/>
          <a:lstStyle/>
          <a:p>
            <a:r>
              <a:rPr lang="en-US" sz="2200" b="1" u="sng" smtClean="0"/>
              <a:t>Algorithm:</a:t>
            </a:r>
            <a:r>
              <a:rPr lang="en-US" sz="2200" b="1" smtClean="0"/>
              <a:t> </a:t>
            </a:r>
            <a:r>
              <a:rPr lang="en-US" sz="2200" b="1" i="1" smtClean="0"/>
              <a:t>Predicate Resolution</a:t>
            </a:r>
          </a:p>
        </p:txBody>
      </p:sp>
      <p:pic>
        <p:nvPicPr>
          <p:cNvPr id="18435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38200" y="914400"/>
            <a:ext cx="7620000" cy="5334000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8988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/>
          <p:cNvSpPr>
            <a:spLocks noGrp="1"/>
          </p:cNvSpPr>
          <p:nvPr>
            <p:ph type="title"/>
          </p:nvPr>
        </p:nvSpPr>
        <p:spPr>
          <a:xfrm>
            <a:off x="914400" y="214313"/>
            <a:ext cx="8029575" cy="700087"/>
          </a:xfrm>
        </p:spPr>
        <p:txBody>
          <a:bodyPr/>
          <a:lstStyle/>
          <a:p>
            <a:r>
              <a:rPr lang="en-US" sz="2800" b="1" smtClean="0"/>
              <a:t>Theoretical results</a:t>
            </a:r>
          </a:p>
        </p:txBody>
      </p:sp>
      <p:sp>
        <p:nvSpPr>
          <p:cNvPr id="19459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mtClean="0"/>
          </a:p>
        </p:txBody>
      </p:sp>
      <p:pic>
        <p:nvPicPr>
          <p:cNvPr id="1946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143000"/>
            <a:ext cx="76962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8988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>
          <a:xfrm>
            <a:off x="304800" y="183357"/>
            <a:ext cx="7793037" cy="471487"/>
          </a:xfrm>
        </p:spPr>
        <p:txBody>
          <a:bodyPr/>
          <a:lstStyle/>
          <a:p>
            <a:r>
              <a:rPr lang="en-US" sz="2800" b="1" smtClean="0"/>
              <a:t>Example 6</a:t>
            </a:r>
          </a:p>
        </p:txBody>
      </p:sp>
      <p:pic>
        <p:nvPicPr>
          <p:cNvPr id="20483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90600" y="762000"/>
            <a:ext cx="7467600" cy="5486400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8988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>
          <a:xfrm>
            <a:off x="838200" y="228600"/>
            <a:ext cx="8105775" cy="471487"/>
          </a:xfrm>
        </p:spPr>
        <p:txBody>
          <a:bodyPr/>
          <a:lstStyle/>
          <a:p>
            <a:r>
              <a:rPr lang="en-US" sz="2800" b="1" smtClean="0"/>
              <a:t>Example 7</a:t>
            </a:r>
          </a:p>
        </p:txBody>
      </p:sp>
      <p:pic>
        <p:nvPicPr>
          <p:cNvPr id="21507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38200" y="993580"/>
            <a:ext cx="8001000" cy="5410200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8988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>
          <a:xfrm>
            <a:off x="1150938" y="381000"/>
            <a:ext cx="7793037" cy="533400"/>
          </a:xfrm>
        </p:spPr>
        <p:txBody>
          <a:bodyPr/>
          <a:lstStyle/>
          <a:p>
            <a:r>
              <a:rPr lang="en-US" sz="2800" b="1" smtClean="0"/>
              <a:t>Example 8</a:t>
            </a:r>
          </a:p>
        </p:txBody>
      </p:sp>
      <p:pic>
        <p:nvPicPr>
          <p:cNvPr id="22531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219200" y="1143000"/>
            <a:ext cx="7467600" cy="4724400"/>
          </a:xfrm>
          <a:noFill/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8988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>
          <a:xfrm>
            <a:off x="762000" y="214313"/>
            <a:ext cx="8181975" cy="547687"/>
          </a:xfrm>
        </p:spPr>
        <p:txBody>
          <a:bodyPr/>
          <a:lstStyle/>
          <a:p>
            <a:r>
              <a:rPr lang="en-US" sz="2800" b="1" smtClean="0"/>
              <a:t>Example 8 (contd.)</a:t>
            </a:r>
          </a:p>
        </p:txBody>
      </p:sp>
      <p:sp>
        <p:nvSpPr>
          <p:cNvPr id="2355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mtClean="0"/>
          </a:p>
        </p:txBody>
      </p:sp>
      <p:pic>
        <p:nvPicPr>
          <p:cNvPr id="23556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951012"/>
            <a:ext cx="7924800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8988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>
          <a:xfrm>
            <a:off x="838200" y="214313"/>
            <a:ext cx="8105775" cy="471487"/>
          </a:xfrm>
        </p:spPr>
        <p:txBody>
          <a:bodyPr/>
          <a:lstStyle/>
          <a:p>
            <a:r>
              <a:rPr lang="en-US" sz="2800" b="1" dirty="0" smtClean="0"/>
              <a:t>Example 8(contd</a:t>
            </a:r>
            <a:r>
              <a:rPr lang="en-US" sz="2800" b="1" dirty="0" smtClean="0"/>
              <a:t>.)</a:t>
            </a:r>
            <a:endParaRPr lang="en-US" sz="2800" dirty="0" smtClean="0"/>
          </a:p>
        </p:txBody>
      </p:sp>
      <p:sp>
        <p:nvSpPr>
          <p:cNvPr id="24579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mtClean="0"/>
          </a:p>
        </p:txBody>
      </p:sp>
      <p:pic>
        <p:nvPicPr>
          <p:cNvPr id="24580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868363"/>
            <a:ext cx="8001000" cy="541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8988" y="76200"/>
            <a:ext cx="631825" cy="79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9032A480F42E647B8D9BDED97784600" ma:contentTypeVersion="2" ma:contentTypeDescription="Create a new document." ma:contentTypeScope="" ma:versionID="1475f87b00b7bf3f42ecc9bff1d73a17">
  <xsd:schema xmlns:xsd="http://www.w3.org/2001/XMLSchema" xmlns:xs="http://www.w3.org/2001/XMLSchema" xmlns:p="http://schemas.microsoft.com/office/2006/metadata/properties" xmlns:ns2="767e4319-1f02-4048-8410-bdb9c4501901" targetNamespace="http://schemas.microsoft.com/office/2006/metadata/properties" ma:root="true" ma:fieldsID="ab2905937831d3df4f33c49b7fb7e84f" ns2:_="">
    <xsd:import namespace="767e4319-1f02-4048-8410-bdb9c450190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7e4319-1f02-4048-8410-bdb9c450190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ED73BB6-A6A2-4B8F-B843-112EC51F5757}"/>
</file>

<file path=customXml/itemProps2.xml><?xml version="1.0" encoding="utf-8"?>
<ds:datastoreItem xmlns:ds="http://schemas.openxmlformats.org/officeDocument/2006/customXml" ds:itemID="{B880EEBE-75B2-42F0-9A0F-2E1278FE6E92}"/>
</file>

<file path=customXml/itemProps3.xml><?xml version="1.0" encoding="utf-8"?>
<ds:datastoreItem xmlns:ds="http://schemas.openxmlformats.org/officeDocument/2006/customXml" ds:itemID="{C0CB7BDD-089B-4670-9A3B-32BEAC3580FF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4436</TotalTime>
  <Words>96</Words>
  <Application>Microsoft Office PowerPoint</Application>
  <PresentationFormat>On-screen Show (4:3)</PresentationFormat>
  <Paragraphs>29</Paragraphs>
  <Slides>22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Tahoma</vt:lpstr>
      <vt:lpstr>Arial</vt:lpstr>
      <vt:lpstr>Wingdings</vt:lpstr>
      <vt:lpstr>Calibri</vt:lpstr>
      <vt:lpstr>Aharoni</vt:lpstr>
      <vt:lpstr>Blends</vt:lpstr>
      <vt:lpstr>Resolution in predicate Logic </vt:lpstr>
      <vt:lpstr>Prenex normal form</vt:lpstr>
      <vt:lpstr>Extraction of quantifiers                                  in front of the formula </vt:lpstr>
      <vt:lpstr>Skolem and clausal normal forms</vt:lpstr>
      <vt:lpstr>Theoretical results</vt:lpstr>
      <vt:lpstr>Example 1 Transform into normal forms the formula:</vt:lpstr>
      <vt:lpstr>Example 2</vt:lpstr>
      <vt:lpstr>Substitutions</vt:lpstr>
      <vt:lpstr>Substitutions and unifiers</vt:lpstr>
      <vt:lpstr>Example 3</vt:lpstr>
      <vt:lpstr>Algorithm for computing the mgu of two literals  </vt:lpstr>
      <vt:lpstr>Example 4</vt:lpstr>
      <vt:lpstr>Example 5</vt:lpstr>
      <vt:lpstr>Predicate resolution    - formal (axiomatic system) -</vt:lpstr>
      <vt:lpstr>Definitions</vt:lpstr>
      <vt:lpstr>Algorithm: Predicate Resolution</vt:lpstr>
      <vt:lpstr>Theoretical results</vt:lpstr>
      <vt:lpstr>Example 6</vt:lpstr>
      <vt:lpstr>Example 7</vt:lpstr>
      <vt:lpstr>Example 8</vt:lpstr>
      <vt:lpstr>Example 8 (contd.)</vt:lpstr>
      <vt:lpstr>Example 8(contd.)</vt:lpstr>
    </vt:vector>
  </TitlesOfParts>
  <Company>Microsoft Corporation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Semantic Tableaux Method</dc:title>
  <dc:creator>Iulian Lupea</dc:creator>
  <cp:lastModifiedBy>MIHAELA-ANA LUPEA</cp:lastModifiedBy>
  <cp:revision>96</cp:revision>
  <dcterms:created xsi:type="dcterms:W3CDTF">2017-11-03T20:27:27Z</dcterms:created>
  <dcterms:modified xsi:type="dcterms:W3CDTF">2020-11-23T07:31:54Z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0x010100F9032A480F42E647B8D9BDED97784600</vt:lpwstr>
  </property>
</Properties>
</file>