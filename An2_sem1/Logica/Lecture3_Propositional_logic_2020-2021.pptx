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57" r:id="rId2"/>
    <p:sldId id="258" r:id="rId3"/>
    <p:sldId id="259" r:id="rId4"/>
    <p:sldId id="275" r:id="rId5"/>
    <p:sldId id="260" r:id="rId6"/>
    <p:sldId id="268" r:id="rId7"/>
    <p:sldId id="267" r:id="rId8"/>
    <p:sldId id="284" r:id="rId9"/>
    <p:sldId id="261" r:id="rId10"/>
    <p:sldId id="265" r:id="rId11"/>
    <p:sldId id="266" r:id="rId12"/>
    <p:sldId id="264" r:id="rId13"/>
    <p:sldId id="269" r:id="rId14"/>
    <p:sldId id="271" r:id="rId15"/>
    <p:sldId id="270" r:id="rId16"/>
    <p:sldId id="272" r:id="rId17"/>
    <p:sldId id="273" r:id="rId18"/>
    <p:sldId id="274" r:id="rId19"/>
    <p:sldId id="280" r:id="rId20"/>
    <p:sldId id="281" r:id="rId21"/>
    <p:sldId id="277" r:id="rId22"/>
    <p:sldId id="278" r:id="rId23"/>
    <p:sldId id="286" r:id="rId24"/>
    <p:sldId id="285" r:id="rId25"/>
  </p:sldIdLst>
  <p:sldSz cx="9144000" cy="6858000" type="screen4x3"/>
  <p:notesSz cx="6858000" cy="9144000"/>
  <p:defaultTextStyle>
    <a:defPPr>
      <a:defRPr lang="ro-RO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53" y="44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8763000" cy="5943600"/>
            <a:chOff x="0" y="0"/>
            <a:chExt cx="5520" cy="3744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auto">
            <a:xfrm>
              <a:off x="0" y="0"/>
              <a:ext cx="1104" cy="307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sz="2400" smtClean="0">
                <a:latin typeface="Times New Roman" panose="02020603050405020304" pitchFamily="18" charset="0"/>
              </a:endParaRPr>
            </a:p>
          </p:txBody>
        </p:sp>
        <p:grpSp>
          <p:nvGrpSpPr>
            <p:cNvPr id="6" name="Group 4"/>
            <p:cNvGrpSpPr>
              <a:grpSpLocks/>
            </p:cNvGrpSpPr>
            <p:nvPr userDrawn="1"/>
          </p:nvGrpSpPr>
          <p:grpSpPr bwMode="auto">
            <a:xfrm>
              <a:off x="0" y="2208"/>
              <a:ext cx="5520" cy="1536"/>
              <a:chOff x="0" y="2208"/>
              <a:chExt cx="5520" cy="1536"/>
            </a:xfrm>
          </p:grpSpPr>
          <p:sp>
            <p:nvSpPr>
              <p:cNvPr id="10" name="Rectangle 5"/>
              <p:cNvSpPr>
                <a:spLocks noChangeArrowheads="1"/>
              </p:cNvSpPr>
              <p:nvPr/>
            </p:nvSpPr>
            <p:spPr bwMode="ltGray">
              <a:xfrm>
                <a:off x="624" y="2208"/>
                <a:ext cx="4896" cy="1536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defRPr/>
                </a:pPr>
                <a:endParaRPr lang="en-US" sz="2400" smtClean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" name="Rectangle 6"/>
              <p:cNvSpPr>
                <a:spLocks noChangeArrowheads="1"/>
              </p:cNvSpPr>
              <p:nvPr/>
            </p:nvSpPr>
            <p:spPr bwMode="white">
              <a:xfrm>
                <a:off x="654" y="2352"/>
                <a:ext cx="4818" cy="134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defRPr/>
                </a:pPr>
                <a:endParaRPr lang="en-US" sz="2400" smtClean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" name="Line 7"/>
              <p:cNvSpPr>
                <a:spLocks noChangeShapeType="1"/>
              </p:cNvSpPr>
              <p:nvPr/>
            </p:nvSpPr>
            <p:spPr bwMode="auto">
              <a:xfrm>
                <a:off x="0" y="3072"/>
                <a:ext cx="624" cy="0"/>
              </a:xfrm>
              <a:prstGeom prst="line">
                <a:avLst/>
              </a:prstGeom>
              <a:noFill/>
              <a:ln w="508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" name="Group 8"/>
            <p:cNvGrpSpPr>
              <a:grpSpLocks/>
            </p:cNvGrpSpPr>
            <p:nvPr userDrawn="1"/>
          </p:nvGrpSpPr>
          <p:grpSpPr bwMode="auto">
            <a:xfrm>
              <a:off x="400" y="336"/>
              <a:ext cx="5088" cy="192"/>
              <a:chOff x="400" y="336"/>
              <a:chExt cx="5088" cy="192"/>
            </a:xfrm>
          </p:grpSpPr>
          <p:sp>
            <p:nvSpPr>
              <p:cNvPr id="8" name="Rectangle 9"/>
              <p:cNvSpPr>
                <a:spLocks noChangeArrowheads="1"/>
              </p:cNvSpPr>
              <p:nvPr/>
            </p:nvSpPr>
            <p:spPr bwMode="auto">
              <a:xfrm>
                <a:off x="3952" y="336"/>
                <a:ext cx="1536" cy="19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defRPr/>
                </a:pPr>
                <a:endParaRPr lang="en-US" sz="2400" smtClean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" name="Line 10"/>
              <p:cNvSpPr>
                <a:spLocks noChangeShapeType="1"/>
              </p:cNvSpPr>
              <p:nvPr/>
            </p:nvSpPr>
            <p:spPr bwMode="auto">
              <a:xfrm>
                <a:off x="400" y="432"/>
                <a:ext cx="5088" cy="0"/>
              </a:xfrm>
              <a:prstGeom prst="line">
                <a:avLst/>
              </a:prstGeom>
              <a:noFill/>
              <a:ln w="444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5131" name="Rectangle 11"/>
          <p:cNvSpPr>
            <a:spLocks noGrp="1" noChangeArrowheads="1"/>
          </p:cNvSpPr>
          <p:nvPr>
            <p:ph type="ctrTitle"/>
          </p:nvPr>
        </p:nvSpPr>
        <p:spPr>
          <a:xfrm>
            <a:off x="2057400" y="1143000"/>
            <a:ext cx="6629400" cy="2209800"/>
          </a:xfrm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ro-RO" noProof="0" smtClean="0"/>
              <a:t>Click to edit Master title style</a:t>
            </a:r>
          </a:p>
        </p:txBody>
      </p:sp>
      <p:sp>
        <p:nvSpPr>
          <p:cNvPr id="5132" name="Rectangle 12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962400"/>
            <a:ext cx="6858000" cy="1600200"/>
          </a:xfr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ro-RO" noProof="0" smtClean="0"/>
              <a:t>Click to edit Master subtitle style</a:t>
            </a:r>
          </a:p>
        </p:txBody>
      </p:sp>
      <p:sp>
        <p:nvSpPr>
          <p:cNvPr id="13" name="Rectangle 13"/>
          <p:cNvSpPr>
            <a:spLocks noGrp="1" noChangeArrowheads="1"/>
          </p:cNvSpPr>
          <p:nvPr>
            <p:ph type="dt" sz="half" idx="10"/>
          </p:nvPr>
        </p:nvSpPr>
        <p:spPr>
          <a:xfrm>
            <a:off x="912813" y="6251575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ftr" sz="quarter" idx="11"/>
          </p:nvPr>
        </p:nvSpPr>
        <p:spPr>
          <a:xfrm>
            <a:off x="3354388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3A55FD-F205-4131-9332-DEC93F20114E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787561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86A159-89A1-40E2-B573-475CCAF00D45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371531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60E591-DBAF-461F-A8C9-14D78AED64A8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5066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600200"/>
            <a:ext cx="3810000" cy="45307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76800" y="1600200"/>
            <a:ext cx="3810000" cy="45307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F72DA9-0B30-4737-BCB7-3C196F9843E3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85679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8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9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716E25-5F49-474E-86D6-B20752052B42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764006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6F5F5F-4811-4374-909D-32B9957550AB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321663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3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3C9FC0-953C-45A4-B454-05DEE8E68609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3220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1406D4-47F1-4109-88ED-5E73EDDB94A6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80557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0358EE-498B-4A64-BA99-F53A1BED0E05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235583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19A219-45D8-4D0C-96BD-F12C7B7D008D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693150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277813"/>
            <a:ext cx="1943100" cy="585311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7813"/>
            <a:ext cx="5676900" cy="585311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A97BAF-AE72-498C-A0B3-1242601347F6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9954652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7813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914400" y="1600200"/>
            <a:ext cx="7772400" cy="4530725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21225C-436B-4440-99B3-DE78DDF0EC1E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517079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0" y="0"/>
            <a:ext cx="8686800" cy="4876800"/>
            <a:chOff x="0" y="0"/>
            <a:chExt cx="5472" cy="3072"/>
          </a:xfrm>
        </p:grpSpPr>
        <p:sp>
          <p:nvSpPr>
            <p:cNvPr id="1033" name="Rectangle 3"/>
            <p:cNvSpPr>
              <a:spLocks noChangeArrowheads="1"/>
            </p:cNvSpPr>
            <p:nvPr/>
          </p:nvSpPr>
          <p:spPr bwMode="auto">
            <a:xfrm>
              <a:off x="0" y="0"/>
              <a:ext cx="384" cy="307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sz="2400" smtClean="0">
                <a:latin typeface="Times New Roman" panose="02020603050405020304" pitchFamily="18" charset="0"/>
              </a:endParaRPr>
            </a:p>
          </p:txBody>
        </p:sp>
        <p:grpSp>
          <p:nvGrpSpPr>
            <p:cNvPr id="1034" name="Group 4"/>
            <p:cNvGrpSpPr>
              <a:grpSpLocks/>
            </p:cNvGrpSpPr>
            <p:nvPr/>
          </p:nvGrpSpPr>
          <p:grpSpPr bwMode="auto">
            <a:xfrm>
              <a:off x="240" y="893"/>
              <a:ext cx="5232" cy="115"/>
              <a:chOff x="240" y="893"/>
              <a:chExt cx="5232" cy="115"/>
            </a:xfrm>
          </p:grpSpPr>
          <p:sp>
            <p:nvSpPr>
              <p:cNvPr id="1035" name="Rectangle 5"/>
              <p:cNvSpPr>
                <a:spLocks noChangeArrowheads="1"/>
              </p:cNvSpPr>
              <p:nvPr/>
            </p:nvSpPr>
            <p:spPr bwMode="auto">
              <a:xfrm>
                <a:off x="4320" y="893"/>
                <a:ext cx="1152" cy="11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defRPr/>
                </a:pPr>
                <a:endParaRPr lang="en-US" sz="2400" smtClean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36" name="Line 6"/>
              <p:cNvSpPr>
                <a:spLocks noChangeShapeType="1"/>
              </p:cNvSpPr>
              <p:nvPr/>
            </p:nvSpPr>
            <p:spPr bwMode="auto">
              <a:xfrm>
                <a:off x="240" y="941"/>
                <a:ext cx="5232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1027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277813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o-RO" smtClean="0"/>
              <a:t>Click to edit Master title style</a:t>
            </a:r>
          </a:p>
        </p:txBody>
      </p:sp>
      <p:sp>
        <p:nvSpPr>
          <p:cNvPr id="1028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600200"/>
            <a:ext cx="77724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o-RO" smtClean="0"/>
              <a:t>Click to edit Master text styles</a:t>
            </a:r>
          </a:p>
          <a:p>
            <a:pPr lvl="1"/>
            <a:r>
              <a:rPr lang="ro-RO" smtClean="0"/>
              <a:t>Second level</a:t>
            </a:r>
          </a:p>
          <a:p>
            <a:pPr lvl="2"/>
            <a:r>
              <a:rPr lang="ro-RO" smtClean="0"/>
              <a:t>Third level</a:t>
            </a:r>
          </a:p>
          <a:p>
            <a:pPr lvl="3"/>
            <a:r>
              <a:rPr lang="ro-RO" smtClean="0"/>
              <a:t>Fourth level</a:t>
            </a:r>
          </a:p>
          <a:p>
            <a:pPr lvl="4"/>
            <a:r>
              <a:rPr lang="ro-RO" smtClean="0"/>
              <a:t>Fifth level</a:t>
            </a:r>
          </a:p>
        </p:txBody>
      </p:sp>
      <p:sp>
        <p:nvSpPr>
          <p:cNvPr id="4105" name="Rectangle 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51575"/>
            <a:ext cx="1981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4106" name="Rectangle 1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2484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4107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pPr>
              <a:defRPr/>
            </a:pPr>
            <a:fld id="{49096006-EFAB-44F0-A204-09C39F37BFAE}" type="slidenum">
              <a:rPr lang="ro-RO"/>
              <a:pPr>
                <a:defRPr/>
              </a:pPr>
              <a:t>‹#›</a:t>
            </a:fld>
            <a:endParaRPr lang="ro-RO"/>
          </a:p>
        </p:txBody>
      </p:sp>
      <p:sp>
        <p:nvSpPr>
          <p:cNvPr id="1032" name="Line 12"/>
          <p:cNvSpPr>
            <a:spLocks noChangeShapeType="1"/>
          </p:cNvSpPr>
          <p:nvPr/>
        </p:nvSpPr>
        <p:spPr bwMode="auto">
          <a:xfrm>
            <a:off x="0" y="4876800"/>
            <a:ext cx="609600" cy="0"/>
          </a:xfrm>
          <a:prstGeom prst="line">
            <a:avLst/>
          </a:prstGeom>
          <a:noFill/>
          <a:ln w="4445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anose="02020603050405020304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anose="02020603050405020304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anose="02020603050405020304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anose="02020603050405020304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anose="02020603050405020304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anose="02020603050405020304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anose="02020603050405020304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Char char="n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n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5000"/>
        <a:buFont typeface="Wingdings" panose="05000000000000000000" pitchFamily="2" charset="2"/>
        <a:buChar char="n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40.png"/><Relationship Id="rId7" Type="http://schemas.openxmlformats.org/officeDocument/2006/relationships/image" Target="../media/image43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2.png"/><Relationship Id="rId5" Type="http://schemas.openxmlformats.org/officeDocument/2006/relationships/image" Target="../media/image2.png"/><Relationship Id="rId4" Type="http://schemas.openxmlformats.org/officeDocument/2006/relationships/image" Target="../media/image41.png"/><Relationship Id="rId9" Type="http://schemas.openxmlformats.org/officeDocument/2006/relationships/image" Target="../media/image4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77813"/>
            <a:ext cx="8001000" cy="941387"/>
          </a:xfrm>
        </p:spPr>
        <p:txBody>
          <a:bodyPr/>
          <a:lstStyle/>
          <a:p>
            <a:pPr eaLnBrk="1" hangingPunct="1"/>
            <a:r>
              <a:rPr lang="en-US" sz="2400" b="1" smtClean="0">
                <a:latin typeface="Arial Rounded MT Bold" panose="020F0704030504030204" pitchFamily="34" charset="0"/>
              </a:rPr>
              <a:t>PROPOSITIONAL LOGIC  -   </a:t>
            </a:r>
            <a:r>
              <a:rPr lang="en-US" sz="2400" b="1" u="sng" smtClean="0"/>
              <a:t>SYNTAX </a:t>
            </a:r>
            <a:r>
              <a:rPr lang="en-US" sz="2400" b="1" smtClean="0"/>
              <a:t>-</a:t>
            </a:r>
            <a:endParaRPr lang="ro-RO" sz="2400" b="1" smtClean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8077200" cy="42672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endParaRPr lang="en-US" smtClean="0"/>
          </a:p>
        </p:txBody>
      </p:sp>
      <p:pic>
        <p:nvPicPr>
          <p:cNvPr id="3076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250" y="1570038"/>
            <a:ext cx="8153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225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41300"/>
            <a:ext cx="7467600" cy="407988"/>
          </a:xfrm>
        </p:spPr>
        <p:txBody>
          <a:bodyPr/>
          <a:lstStyle/>
          <a:p>
            <a:pPr marL="800100" indent="-800100" eaLnBrk="1" hangingPunct="1"/>
            <a:r>
              <a:rPr lang="en-GB" sz="3800" b="1" i="1" smtClean="0"/>
              <a:t/>
            </a:r>
            <a:br>
              <a:rPr lang="en-GB" sz="3800" b="1" i="1" smtClean="0"/>
            </a:br>
            <a:r>
              <a:rPr lang="en-GB" sz="2400" b="1" i="1" u="sng" smtClean="0"/>
              <a:t>Semantics of propositional logic</a:t>
            </a:r>
            <a:r>
              <a:rPr lang="ro-RO" sz="2400" b="1" i="1" smtClean="0"/>
              <a:t/>
            </a:r>
            <a:br>
              <a:rPr lang="ro-RO" sz="2400" b="1" i="1" smtClean="0"/>
            </a:br>
            <a:endParaRPr lang="ro-RO" sz="2400" b="1" i="1" smtClean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pic>
        <p:nvPicPr>
          <p:cNvPr id="4100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8" y="914400"/>
            <a:ext cx="8382000" cy="533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225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77813"/>
            <a:ext cx="7543800" cy="484187"/>
          </a:xfrm>
        </p:spPr>
        <p:txBody>
          <a:bodyPr/>
          <a:lstStyle/>
          <a:p>
            <a:pPr algn="ctr" eaLnBrk="1" hangingPunct="1"/>
            <a:r>
              <a:rPr lang="en-US" sz="2800" b="1" u="sng" smtClean="0"/>
              <a:t>Truth tables</a:t>
            </a:r>
            <a:endParaRPr lang="ro-RO" sz="2800" b="1" u="sng" smtClean="0"/>
          </a:p>
        </p:txBody>
      </p:sp>
      <p:sp>
        <p:nvSpPr>
          <p:cNvPr id="5123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pic>
        <p:nvPicPr>
          <p:cNvPr id="512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143000"/>
            <a:ext cx="830580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5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225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2"/>
          <p:cNvSpPr>
            <a:spLocks noGrp="1" noChangeArrowheads="1"/>
          </p:cNvSpPr>
          <p:nvPr>
            <p:ph type="title"/>
          </p:nvPr>
        </p:nvSpPr>
        <p:spPr>
          <a:xfrm>
            <a:off x="838200" y="304800"/>
            <a:ext cx="8458200" cy="712788"/>
          </a:xfrm>
        </p:spPr>
        <p:txBody>
          <a:bodyPr/>
          <a:lstStyle/>
          <a:p>
            <a:pPr eaLnBrk="1" hangingPunct="1"/>
            <a:r>
              <a:rPr lang="en-US" sz="3000" b="1" smtClean="0"/>
              <a:t>Stylistic variants in English for logical connectives</a:t>
            </a:r>
            <a:r>
              <a:rPr lang="ro-RO" sz="3800" smtClean="0"/>
              <a:t> </a:t>
            </a:r>
          </a:p>
        </p:txBody>
      </p:sp>
      <p:graphicFrame>
        <p:nvGraphicFramePr>
          <p:cNvPr id="32830" name="Group 62"/>
          <p:cNvGraphicFramePr>
            <a:graphicFrameLocks noGrp="1"/>
          </p:cNvGraphicFramePr>
          <p:nvPr>
            <p:ph idx="1"/>
          </p:nvPr>
        </p:nvGraphicFramePr>
        <p:xfrm>
          <a:off x="601663" y="1235075"/>
          <a:ext cx="8534400" cy="4389438"/>
        </p:xfrm>
        <a:graphic>
          <a:graphicData uri="http://schemas.openxmlformats.org/drawingml/2006/table">
            <a:tbl>
              <a:tblPr/>
              <a:tblGrid>
                <a:gridCol w="1828800"/>
                <a:gridCol w="1676400"/>
                <a:gridCol w="2590800"/>
                <a:gridCol w="2438400"/>
              </a:tblGrid>
              <a:tr h="45723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3220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 and B	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Both A and B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A, but B	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A, although B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 as well as B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A, B 	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A, also B 	</a:t>
                      </a:r>
                      <a:endParaRPr kumimoji="0" lang="ro-RO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 or B 	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Either A or B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 unless B</a:t>
                      </a:r>
                      <a:r>
                        <a:rPr kumimoji="0" lang="ro-RO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If A, then B 	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If A, B	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 is a sufficient condition for B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 is sufficient for B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In case A, B 	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Provided that A, 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then B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 provided that A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 is necessary for A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 only if B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 if A</a:t>
                      </a:r>
                      <a:endParaRPr kumimoji="0" lang="ro-RO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 if and only if B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 is equivalent to B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  is necessary and      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  sufficient for B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 just in case B</a:t>
                      </a:r>
                      <a:endParaRPr kumimoji="0" lang="ro-RO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164" name="Rectangle 32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sz="1800"/>
          </a:p>
        </p:txBody>
      </p:sp>
      <p:pic>
        <p:nvPicPr>
          <p:cNvPr id="6165" name="Picture 3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219200"/>
            <a:ext cx="838200" cy="40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66" name="Picture 3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1219200"/>
            <a:ext cx="838200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67" name="Picture 4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219200"/>
            <a:ext cx="990600" cy="423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68" name="Picture 5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1219200"/>
            <a:ext cx="99060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69" name="Picture 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225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457200"/>
            <a:ext cx="8077200" cy="609600"/>
          </a:xfrm>
        </p:spPr>
        <p:txBody>
          <a:bodyPr/>
          <a:lstStyle/>
          <a:p>
            <a:pPr eaLnBrk="1" hangingPunct="1"/>
            <a:r>
              <a:rPr lang="en-US" sz="3200" smtClean="0"/>
              <a:t>Interpretation of a propositional formula</a:t>
            </a:r>
            <a:endParaRPr lang="ro-RO" sz="3200" smtClean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pic>
        <p:nvPicPr>
          <p:cNvPr id="7172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524000"/>
            <a:ext cx="7848600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225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77813"/>
            <a:ext cx="7772400" cy="636587"/>
          </a:xfrm>
        </p:spPr>
        <p:txBody>
          <a:bodyPr/>
          <a:lstStyle/>
          <a:p>
            <a:pPr algn="ctr" eaLnBrk="1" hangingPunct="1"/>
            <a:r>
              <a:rPr lang="en-US" sz="2800" b="1" u="sng" smtClean="0"/>
              <a:t>Semantic concepts</a:t>
            </a:r>
            <a:endParaRPr lang="ro-RO" sz="2800" b="1" u="sng" smtClean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pic>
        <p:nvPicPr>
          <p:cNvPr id="819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066800"/>
            <a:ext cx="861060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7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225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smtClean="0"/>
              <a:t>Semantic concepts (contd.)</a:t>
            </a:r>
            <a:endParaRPr lang="ro-RO" sz="3200" b="1" smtClean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600200"/>
            <a:ext cx="8153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1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225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smtClean="0"/>
              <a:t>Problems in propositional logic</a:t>
            </a:r>
            <a:endParaRPr lang="ro-RO" sz="3200" b="1" smtClean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524000"/>
            <a:ext cx="8458200" cy="4530725"/>
          </a:xfrm>
        </p:spPr>
        <p:txBody>
          <a:bodyPr/>
          <a:lstStyle/>
          <a:p>
            <a:pPr eaLnBrk="1" hangingPunct="1">
              <a:lnSpc>
                <a:spcPct val="125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smtClean="0"/>
              <a:t>Check the </a:t>
            </a:r>
            <a:r>
              <a:rPr lang="en-US" sz="2400" b="1" i="1" smtClean="0"/>
              <a:t>validity</a:t>
            </a:r>
            <a:r>
              <a:rPr lang="en-US" sz="2400" i="1" smtClean="0"/>
              <a:t> </a:t>
            </a:r>
            <a:r>
              <a:rPr lang="en-US" sz="2400" smtClean="0"/>
              <a:t>/ </a:t>
            </a:r>
            <a:r>
              <a:rPr lang="en-US" sz="2400" b="1" i="1" smtClean="0"/>
              <a:t>consistency</a:t>
            </a:r>
            <a:r>
              <a:rPr lang="en-US" sz="2400" i="1" smtClean="0"/>
              <a:t> </a:t>
            </a:r>
            <a:r>
              <a:rPr lang="en-US" sz="2400" smtClean="0"/>
              <a:t>/ </a:t>
            </a:r>
            <a:r>
              <a:rPr lang="en-US" sz="2400" i="1" smtClean="0"/>
              <a:t>i</a:t>
            </a:r>
            <a:r>
              <a:rPr lang="en-US" sz="2400" b="1" i="1" smtClean="0"/>
              <a:t>nconsistency</a:t>
            </a:r>
            <a:r>
              <a:rPr lang="en-US" sz="2400" smtClean="0"/>
              <a:t> property of a propositional formula;</a:t>
            </a:r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sz="1000" smtClean="0"/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smtClean="0"/>
              <a:t>Find the </a:t>
            </a:r>
            <a:r>
              <a:rPr lang="en-US" sz="2400" b="1" i="1" smtClean="0"/>
              <a:t>models</a:t>
            </a:r>
            <a:r>
              <a:rPr lang="en-US" sz="2400" smtClean="0"/>
              <a:t> and </a:t>
            </a:r>
            <a:r>
              <a:rPr lang="en-US" sz="2400" b="1" i="1" smtClean="0"/>
              <a:t>anti-models</a:t>
            </a:r>
            <a:r>
              <a:rPr lang="en-US" sz="2400" smtClean="0"/>
              <a:t> of a consistent formula</a:t>
            </a:r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sz="1000" smtClean="0"/>
          </a:p>
          <a:p>
            <a:pPr eaLnBrk="1" hangingPunct="1">
              <a:lnSpc>
                <a:spcPct val="125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smtClean="0"/>
              <a:t>Check the </a:t>
            </a:r>
            <a:r>
              <a:rPr lang="en-US" sz="2400" b="1" i="1" smtClean="0"/>
              <a:t>logical equivalence</a:t>
            </a:r>
            <a:r>
              <a:rPr lang="en-US" sz="2400" smtClean="0"/>
              <a:t> and </a:t>
            </a:r>
            <a:r>
              <a:rPr lang="en-US" sz="2400" b="1" i="1" smtClean="0"/>
              <a:t>logical consequence</a:t>
            </a:r>
            <a:r>
              <a:rPr lang="en-US" sz="2400" smtClean="0"/>
              <a:t> relations between two propositional formulas</a:t>
            </a:r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sz="1000" smtClean="0"/>
          </a:p>
          <a:p>
            <a:pPr eaLnBrk="1" hangingPunct="1">
              <a:lnSpc>
                <a:spcPct val="125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smtClean="0"/>
              <a:t>Check the </a:t>
            </a:r>
            <a:r>
              <a:rPr lang="en-US" sz="2400" b="1" i="1" smtClean="0"/>
              <a:t>logical consequence</a:t>
            </a:r>
            <a:r>
              <a:rPr lang="en-US" sz="2400" smtClean="0"/>
              <a:t> relation between a </a:t>
            </a:r>
            <a:r>
              <a:rPr lang="en-US" sz="2400" b="1" i="1" smtClean="0"/>
              <a:t>set of premises (hypotheses</a:t>
            </a:r>
            <a:r>
              <a:rPr lang="en-US" sz="2400" i="1" smtClean="0"/>
              <a:t>) and a </a:t>
            </a:r>
            <a:r>
              <a:rPr lang="en-US" sz="2400" b="1" i="1" smtClean="0"/>
              <a:t>conclusion</a:t>
            </a:r>
            <a:r>
              <a:rPr lang="en-US" sz="2400" i="1" smtClean="0"/>
              <a:t>.</a:t>
            </a:r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sz="2400" i="1" smtClean="0"/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ro-RO" sz="2400" smtClean="0"/>
          </a:p>
        </p:txBody>
      </p:sp>
      <p:pic>
        <p:nvPicPr>
          <p:cNvPr id="1024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225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0"/>
            <a:ext cx="8077200" cy="788988"/>
          </a:xfrm>
        </p:spPr>
        <p:txBody>
          <a:bodyPr/>
          <a:lstStyle/>
          <a:p>
            <a:pPr eaLnBrk="1" hangingPunct="1"/>
            <a:r>
              <a:rPr lang="en-US" sz="2400" b="1" u="sng" smtClean="0"/>
              <a:t>Example 1.</a:t>
            </a:r>
            <a:r>
              <a:rPr lang="en-US" sz="2800" b="1" smtClean="0"/>
              <a:t> </a:t>
            </a:r>
            <a:r>
              <a:rPr lang="en-US" sz="2400" b="1" smtClean="0"/>
              <a:t>Build the truth tables of the formulas:</a:t>
            </a:r>
            <a:r>
              <a:rPr lang="ro-RO" sz="2400" smtClean="0"/>
              <a:t> 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pic>
        <p:nvPicPr>
          <p:cNvPr id="11268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762000"/>
            <a:ext cx="8382000" cy="564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9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225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smtClean="0"/>
              <a:t>Logical equivalences</a:t>
            </a:r>
            <a:endParaRPr lang="ro-RO" sz="3200" b="1" smtClean="0"/>
          </a:p>
        </p:txBody>
      </p:sp>
      <p:graphicFrame>
        <p:nvGraphicFramePr>
          <p:cNvPr id="17431" name="Group 23"/>
          <p:cNvGraphicFramePr>
            <a:graphicFrameLocks noGrp="1"/>
          </p:cNvGraphicFramePr>
          <p:nvPr>
            <p:ph idx="1"/>
          </p:nvPr>
        </p:nvGraphicFramePr>
        <p:xfrm>
          <a:off x="609600" y="1600200"/>
          <a:ext cx="8305800" cy="4530725"/>
        </p:xfrm>
        <a:graphic>
          <a:graphicData uri="http://schemas.openxmlformats.org/drawingml/2006/table">
            <a:tbl>
              <a:tblPr/>
              <a:tblGrid>
                <a:gridCol w="4191000"/>
                <a:gridCol w="4114800"/>
              </a:tblGrid>
              <a:tr h="45307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ro-RO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12299" name="Picture 1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828800"/>
            <a:ext cx="4114800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300" name="Picture 1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1828800"/>
            <a:ext cx="2905125" cy="148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301" name="Picture 2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3657600"/>
            <a:ext cx="39624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302" name="Pictur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225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smtClean="0"/>
              <a:t>Logical equivalences (contd.)</a:t>
            </a:r>
            <a:endParaRPr lang="ro-RO" sz="3200" b="1" smtClean="0"/>
          </a:p>
        </p:txBody>
      </p:sp>
      <p:graphicFrame>
        <p:nvGraphicFramePr>
          <p:cNvPr id="19471" name="Group 15"/>
          <p:cNvGraphicFramePr>
            <a:graphicFrameLocks noGrp="1"/>
          </p:cNvGraphicFramePr>
          <p:nvPr>
            <p:ph idx="1"/>
          </p:nvPr>
        </p:nvGraphicFramePr>
        <p:xfrm>
          <a:off x="609600" y="1600200"/>
          <a:ext cx="8077200" cy="4530725"/>
        </p:xfrm>
        <a:graphic>
          <a:graphicData uri="http://schemas.openxmlformats.org/drawingml/2006/table">
            <a:tbl>
              <a:tblPr/>
              <a:tblGrid>
                <a:gridCol w="4191000"/>
                <a:gridCol w="3886200"/>
              </a:tblGrid>
              <a:tr h="45307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13323" name="Picture 1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981200"/>
            <a:ext cx="32766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24" name="Picture 1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057400"/>
            <a:ext cx="3429000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25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225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sz="3200" b="1" smtClean="0"/>
              <a:t>Logical equivalences (contd.)</a:t>
            </a:r>
            <a:br>
              <a:rPr lang="en-US" sz="3200" b="1" smtClean="0"/>
            </a:br>
            <a:r>
              <a:rPr lang="en-US" sz="3200" b="1" smtClean="0"/>
              <a:t>--- </a:t>
            </a:r>
            <a:r>
              <a:rPr lang="en-US" sz="2800" b="1" smtClean="0">
                <a:solidFill>
                  <a:schemeClr val="hlink"/>
                </a:solidFill>
              </a:rPr>
              <a:t>Definitions of the connectives</a:t>
            </a:r>
            <a:r>
              <a:rPr lang="en-US" sz="3000" b="1" smtClean="0">
                <a:solidFill>
                  <a:schemeClr val="hlink"/>
                </a:solidFill>
              </a:rPr>
              <a:t> </a:t>
            </a:r>
            <a:r>
              <a:rPr lang="en-US" sz="3200" b="1" smtClean="0"/>
              <a:t>---</a:t>
            </a:r>
            <a:endParaRPr lang="ro-RO" sz="3200" b="1" smtClean="0"/>
          </a:p>
        </p:txBody>
      </p:sp>
      <p:graphicFrame>
        <p:nvGraphicFramePr>
          <p:cNvPr id="16402" name="Group 18"/>
          <p:cNvGraphicFramePr>
            <a:graphicFrameLocks noGrp="1"/>
          </p:cNvGraphicFramePr>
          <p:nvPr>
            <p:ph idx="1"/>
          </p:nvPr>
        </p:nvGraphicFramePr>
        <p:xfrm>
          <a:off x="914400" y="1676400"/>
          <a:ext cx="7772400" cy="4454525"/>
        </p:xfrm>
        <a:graphic>
          <a:graphicData uri="http://schemas.openxmlformats.org/drawingml/2006/table">
            <a:tbl>
              <a:tblPr/>
              <a:tblGrid>
                <a:gridCol w="3886200"/>
                <a:gridCol w="3886200"/>
              </a:tblGrid>
              <a:tr h="4454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14347" name="Picture 1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828800"/>
            <a:ext cx="3429000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8" name="Picture 1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1828800"/>
            <a:ext cx="3657600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9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225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77813"/>
            <a:ext cx="7772400" cy="941387"/>
          </a:xfrm>
        </p:spPr>
        <p:txBody>
          <a:bodyPr/>
          <a:lstStyle/>
          <a:p>
            <a:pPr eaLnBrk="1" hangingPunct="1"/>
            <a:endParaRPr lang="en-US" smtClean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381000"/>
            <a:ext cx="8686800" cy="594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103188"/>
            <a:ext cx="7772400" cy="863600"/>
          </a:xfrm>
        </p:spPr>
        <p:txBody>
          <a:bodyPr/>
          <a:lstStyle/>
          <a:p>
            <a:pPr eaLnBrk="1" hangingPunct="1"/>
            <a:r>
              <a:rPr lang="en-US" sz="2800" b="1" u="sng" smtClean="0"/>
              <a:t>Sets of propositional formulas</a:t>
            </a:r>
            <a:endParaRPr lang="ro-RO" sz="2800" b="1" u="sng" smtClean="0"/>
          </a:p>
        </p:txBody>
      </p:sp>
      <p:sp>
        <p:nvSpPr>
          <p:cNvPr id="16387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953000"/>
          </a:xfrm>
        </p:spPr>
        <p:txBody>
          <a:bodyPr/>
          <a:lstStyle/>
          <a:p>
            <a:pPr eaLnBrk="1" hangingPunct="1"/>
            <a:endParaRPr lang="en-US" smtClean="0"/>
          </a:p>
        </p:txBody>
      </p:sp>
      <p:pic>
        <p:nvPicPr>
          <p:cNvPr id="16388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143000"/>
            <a:ext cx="84582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9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225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77813"/>
            <a:ext cx="7772400" cy="484187"/>
          </a:xfrm>
        </p:spPr>
        <p:txBody>
          <a:bodyPr/>
          <a:lstStyle/>
          <a:p>
            <a:pPr algn="ctr" eaLnBrk="1" hangingPunct="1"/>
            <a:r>
              <a:rPr lang="en-US" sz="2800" b="1" u="sng" smtClean="0"/>
              <a:t>Theorems (semantic results)</a:t>
            </a:r>
            <a:endParaRPr lang="ro-RO" sz="2800" b="1" u="sng" smtClean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pic>
        <p:nvPicPr>
          <p:cNvPr id="17412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990600"/>
            <a:ext cx="8305800" cy="533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3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225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smtClean="0"/>
              <a:t> Example</a:t>
            </a:r>
            <a:endParaRPr lang="ro-RO" sz="3200" b="1" smtClean="0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pic>
        <p:nvPicPr>
          <p:cNvPr id="1843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524000"/>
            <a:ext cx="8153400" cy="4786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7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225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smtClean="0"/>
              <a:t>Example (contd.)</a:t>
            </a:r>
            <a:endParaRPr lang="ro-RO" sz="3200" b="1" smtClean="0"/>
          </a:p>
        </p:txBody>
      </p:sp>
      <p:graphicFrame>
        <p:nvGraphicFramePr>
          <p:cNvPr id="28698" name="Group 26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953000"/>
        </p:xfrm>
        <a:graphic>
          <a:graphicData uri="http://schemas.openxmlformats.org/drawingml/2006/table">
            <a:tbl>
              <a:tblPr/>
              <a:tblGrid>
                <a:gridCol w="8229600"/>
              </a:tblGrid>
              <a:tr h="264318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098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19467" name="Picture 2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676400"/>
            <a:ext cx="73152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8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4267200"/>
            <a:ext cx="76962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9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225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77813"/>
            <a:ext cx="7772400" cy="407987"/>
          </a:xfrm>
        </p:spPr>
        <p:txBody>
          <a:bodyPr/>
          <a:lstStyle/>
          <a:p>
            <a:pPr eaLnBrk="1" hangingPunct="1"/>
            <a:r>
              <a:rPr lang="en-US" sz="2800" b="1" smtClean="0"/>
              <a:t>Example (contd.) – Truth table </a:t>
            </a:r>
            <a:endParaRPr lang="ro-RO" sz="2800" b="1" smtClean="0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600200"/>
            <a:ext cx="7772400" cy="4343400"/>
          </a:xfrm>
        </p:spPr>
        <p:txBody>
          <a:bodyPr/>
          <a:lstStyle/>
          <a:p>
            <a:pPr eaLnBrk="1" hangingPunct="1"/>
            <a:endParaRPr lang="en-US" smtClean="0"/>
          </a:p>
        </p:txBody>
      </p:sp>
      <p:pic>
        <p:nvPicPr>
          <p:cNvPr id="2048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685800"/>
            <a:ext cx="76962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5410200"/>
            <a:ext cx="76962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6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225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5"/>
          <p:cNvSpPr>
            <a:spLocks noGrp="1" noChangeArrowheads="1"/>
          </p:cNvSpPr>
          <p:nvPr>
            <p:ph type="title"/>
          </p:nvPr>
        </p:nvSpPr>
        <p:spPr>
          <a:xfrm>
            <a:off x="914400" y="277813"/>
            <a:ext cx="7772400" cy="712787"/>
          </a:xfrm>
        </p:spPr>
        <p:txBody>
          <a:bodyPr/>
          <a:lstStyle/>
          <a:p>
            <a:pPr eaLnBrk="1" hangingPunct="1"/>
            <a:r>
              <a:rPr lang="en-US" sz="3200" b="1" smtClean="0"/>
              <a:t>Normal forms - </a:t>
            </a:r>
            <a:r>
              <a:rPr lang="en-US" sz="3200" b="1" i="1" smtClean="0"/>
              <a:t>definitions</a:t>
            </a:r>
            <a:endParaRPr lang="ro-RO" sz="3200" b="1" i="1" smtClean="0"/>
          </a:p>
        </p:txBody>
      </p:sp>
      <p:graphicFrame>
        <p:nvGraphicFramePr>
          <p:cNvPr id="38990" name="Group 78"/>
          <p:cNvGraphicFramePr>
            <a:graphicFrameLocks noGrp="1"/>
          </p:cNvGraphicFramePr>
          <p:nvPr>
            <p:ph idx="1"/>
          </p:nvPr>
        </p:nvGraphicFramePr>
        <p:xfrm>
          <a:off x="152400" y="1371600"/>
          <a:ext cx="8839200" cy="5108575"/>
        </p:xfrm>
        <a:graphic>
          <a:graphicData uri="http://schemas.openxmlformats.org/drawingml/2006/table">
            <a:tbl>
              <a:tblPr/>
              <a:tblGrid>
                <a:gridCol w="4953000"/>
                <a:gridCol w="3886200"/>
              </a:tblGrid>
              <a:tr h="762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A </a:t>
                      </a:r>
                      <a:r>
                        <a:rPr kumimoji="0" 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literal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is a propositional variable or its negation. </a:t>
                      </a:r>
                      <a:endParaRPr kumimoji="0" lang="ro-RO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62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A </a:t>
                      </a:r>
                      <a:r>
                        <a:rPr kumimoji="0" 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clause 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is a </a:t>
                      </a:r>
                      <a:r>
                        <a:rPr kumimoji="0" 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disjunction 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of a finite number of literals. </a:t>
                      </a:r>
                      <a:endParaRPr kumimoji="0" lang="ro-RO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62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A </a:t>
                      </a:r>
                      <a:r>
                        <a:rPr kumimoji="0" 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cube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is a </a:t>
                      </a:r>
                      <a:r>
                        <a:rPr kumimoji="0" 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conjunction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of a finite number of literals. </a:t>
                      </a:r>
                      <a:endParaRPr kumimoji="0" lang="ro-RO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890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A formula is in </a:t>
                      </a:r>
                      <a:r>
                        <a:rPr kumimoji="0" 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disjunctive normal form 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(DNF), if it is written as a disjunction of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     cubes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:</a:t>
                      </a:r>
                      <a:r>
                        <a:rPr kumimoji="0" lang="ro-RO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335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A formula is in </a:t>
                      </a:r>
                      <a:r>
                        <a:rPr kumimoji="0" 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conjunctive normal form</a:t>
                      </a: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(CNF), if it is written as a conjunction of clauses:</a:t>
                      </a:r>
                      <a:r>
                        <a:rPr kumimoji="0" lang="ro-RO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21527" name="Picture 3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1676400"/>
            <a:ext cx="914400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28" name="Picture 3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362200"/>
            <a:ext cx="21336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29" name="Picture 4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200400"/>
            <a:ext cx="2057400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30" name="Picture 4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4419600"/>
            <a:ext cx="1752600" cy="54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31" name="Picture 4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5791200"/>
            <a:ext cx="1600200" cy="598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32" name="Picture 69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3657600"/>
            <a:ext cx="36576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33" name="Picture 70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5181600"/>
            <a:ext cx="35052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34" name="Picture 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225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smtClean="0"/>
              <a:t>Property</a:t>
            </a:r>
            <a:endParaRPr lang="ro-RO" sz="3200" b="1" smtClean="0"/>
          </a:p>
        </p:txBody>
      </p:sp>
      <p:graphicFrame>
        <p:nvGraphicFramePr>
          <p:cNvPr id="40981" name="Group 21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458200" cy="4530725"/>
        </p:xfrm>
        <a:graphic>
          <a:graphicData uri="http://schemas.openxmlformats.org/drawingml/2006/table">
            <a:tbl>
              <a:tblPr/>
              <a:tblGrid>
                <a:gridCol w="4419600"/>
                <a:gridCol w="4038600"/>
              </a:tblGrid>
              <a:tr h="45307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22539" name="Picture 1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828800"/>
            <a:ext cx="4191000" cy="358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40" name="Picture 1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1905000"/>
            <a:ext cx="3810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41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225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i="1" smtClean="0"/>
              <a:t>Normalization algorithm</a:t>
            </a:r>
            <a:endParaRPr lang="ro-RO" sz="3200" b="1" i="1" smtClean="0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8382000" cy="4530725"/>
          </a:xfrm>
        </p:spPr>
        <p:txBody>
          <a:bodyPr/>
          <a:lstStyle/>
          <a:p>
            <a:pPr eaLnBrk="1" hangingPunct="1"/>
            <a:endParaRPr lang="en-US" smtClean="0"/>
          </a:p>
        </p:txBody>
      </p:sp>
      <p:pic>
        <p:nvPicPr>
          <p:cNvPr id="2355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524000"/>
            <a:ext cx="84582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7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225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77813"/>
            <a:ext cx="7772400" cy="941387"/>
          </a:xfrm>
        </p:spPr>
        <p:txBody>
          <a:bodyPr/>
          <a:lstStyle/>
          <a:p>
            <a:pPr eaLnBrk="1" hangingPunct="1"/>
            <a:r>
              <a:rPr lang="en-US" sz="2800" b="1" smtClean="0"/>
              <a:t/>
            </a:r>
            <a:br>
              <a:rPr lang="en-US" sz="2800" b="1" smtClean="0"/>
            </a:br>
            <a:r>
              <a:rPr lang="en-US" sz="2800" b="1" smtClean="0"/>
              <a:t>Normal forms – </a:t>
            </a:r>
            <a:r>
              <a:rPr lang="en-US" sz="2800" b="1" i="1" smtClean="0"/>
              <a:t>theoretical results</a:t>
            </a:r>
            <a:endParaRPr lang="ro-RO" sz="2800" b="1" i="1" smtClean="0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pic>
        <p:nvPicPr>
          <p:cNvPr id="2458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524000"/>
            <a:ext cx="83820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1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225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762000" y="-19050"/>
            <a:ext cx="7772400" cy="1143000"/>
          </a:xfrm>
        </p:spPr>
        <p:txBody>
          <a:bodyPr/>
          <a:lstStyle/>
          <a:p>
            <a:r>
              <a:rPr lang="en-US" sz="2600" b="1" u="sng" smtClean="0"/>
              <a:t>Example</a:t>
            </a:r>
            <a:r>
              <a:rPr lang="en-US" sz="2600" u="sng" smtClean="0"/>
              <a:t>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220663"/>
            <a:ext cx="6438900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975" y="5257800"/>
            <a:ext cx="74676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588" y="1528763"/>
            <a:ext cx="7572375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6" name="Pictur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225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925" y="2557463"/>
            <a:ext cx="7143750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450" y="3227388"/>
            <a:ext cx="6451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925" y="3990975"/>
            <a:ext cx="7115175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213" y="4768850"/>
            <a:ext cx="6715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>
          <a:xfrm>
            <a:off x="914400" y="277813"/>
            <a:ext cx="7696200" cy="407987"/>
          </a:xfrm>
        </p:spPr>
        <p:txBody>
          <a:bodyPr/>
          <a:lstStyle/>
          <a:p>
            <a:r>
              <a:rPr lang="en-US" sz="2800" b="1" u="sng" smtClean="0"/>
              <a:t>Example</a:t>
            </a:r>
            <a:r>
              <a:rPr lang="en-US" sz="2800" b="1" smtClean="0"/>
              <a:t> – </a:t>
            </a:r>
            <a:r>
              <a:rPr lang="en-US" sz="2800" b="1" i="1" smtClean="0"/>
              <a:t>models of a formula</a:t>
            </a:r>
            <a:endParaRPr lang="en-US" sz="2800" smtClean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944563"/>
            <a:ext cx="4219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063" y="1368425"/>
            <a:ext cx="5676900" cy="84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050" y="2211388"/>
            <a:ext cx="5695950" cy="118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538" y="3392488"/>
            <a:ext cx="5686425" cy="108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063" y="4478338"/>
            <a:ext cx="5667375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825" y="5564188"/>
            <a:ext cx="6534150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Layers">
  <a:themeElements>
    <a:clrScheme name="Layers 6">
      <a:dk1>
        <a:srgbClr val="000000"/>
      </a:dk1>
      <a:lt1>
        <a:srgbClr val="FFFFE1"/>
      </a:lt1>
      <a:dk2>
        <a:srgbClr val="330033"/>
      </a:dk2>
      <a:lt2>
        <a:srgbClr val="330033"/>
      </a:lt2>
      <a:accent1>
        <a:srgbClr val="CCCC99"/>
      </a:accent1>
      <a:accent2>
        <a:srgbClr val="FF0000"/>
      </a:accent2>
      <a:accent3>
        <a:srgbClr val="FFFFEE"/>
      </a:accent3>
      <a:accent4>
        <a:srgbClr val="000000"/>
      </a:accent4>
      <a:accent5>
        <a:srgbClr val="E2E2CA"/>
      </a:accent5>
      <a:accent6>
        <a:srgbClr val="E70000"/>
      </a:accent6>
      <a:hlink>
        <a:srgbClr val="990033"/>
      </a:hlink>
      <a:folHlink>
        <a:srgbClr val="B2B2B2"/>
      </a:folHlink>
    </a:clrScheme>
    <a:fontScheme name="Layers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Layers 1">
        <a:dk1>
          <a:srgbClr val="993300"/>
        </a:dk1>
        <a:lt1>
          <a:srgbClr val="CCCCCC"/>
        </a:lt1>
        <a:dk2>
          <a:srgbClr val="000000"/>
        </a:dk2>
        <a:lt2>
          <a:srgbClr val="FFFFFF"/>
        </a:lt2>
        <a:accent1>
          <a:srgbClr val="576F2B"/>
        </a:accent1>
        <a:accent2>
          <a:srgbClr val="666699"/>
        </a:accent2>
        <a:accent3>
          <a:srgbClr val="AAAAAA"/>
        </a:accent3>
        <a:accent4>
          <a:srgbClr val="AEAEAE"/>
        </a:accent4>
        <a:accent5>
          <a:srgbClr val="B4BBAC"/>
        </a:accent5>
        <a:accent6>
          <a:srgbClr val="5C5C8A"/>
        </a:accent6>
        <a:hlink>
          <a:srgbClr val="9933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2">
        <a:dk1>
          <a:srgbClr val="993300"/>
        </a:dk1>
        <a:lt1>
          <a:srgbClr val="CCCCCC"/>
        </a:lt1>
        <a:dk2>
          <a:srgbClr val="330000"/>
        </a:dk2>
        <a:lt2>
          <a:srgbClr val="FFFFFF"/>
        </a:lt2>
        <a:accent1>
          <a:srgbClr val="996633"/>
        </a:accent1>
        <a:accent2>
          <a:srgbClr val="FF0000"/>
        </a:accent2>
        <a:accent3>
          <a:srgbClr val="ADAAAA"/>
        </a:accent3>
        <a:accent4>
          <a:srgbClr val="AEAEAE"/>
        </a:accent4>
        <a:accent5>
          <a:srgbClr val="CAB8AD"/>
        </a:accent5>
        <a:accent6>
          <a:srgbClr val="E70000"/>
        </a:accent6>
        <a:hlink>
          <a:srgbClr val="FF3300"/>
        </a:hlink>
        <a:folHlink>
          <a:srgbClr val="CC99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3">
        <a:dk1>
          <a:srgbClr val="79788A"/>
        </a:dk1>
        <a:lt1>
          <a:srgbClr val="FFFFFF"/>
        </a:lt1>
        <a:dk2>
          <a:srgbClr val="21203C"/>
        </a:dk2>
        <a:lt2>
          <a:srgbClr val="FFFFCC"/>
        </a:lt2>
        <a:accent1>
          <a:srgbClr val="476077"/>
        </a:accent1>
        <a:accent2>
          <a:srgbClr val="676C5A"/>
        </a:accent2>
        <a:accent3>
          <a:srgbClr val="ABABAF"/>
        </a:accent3>
        <a:accent4>
          <a:srgbClr val="DADADA"/>
        </a:accent4>
        <a:accent5>
          <a:srgbClr val="B1B6BD"/>
        </a:accent5>
        <a:accent6>
          <a:srgbClr val="5D6151"/>
        </a:accent6>
        <a:hlink>
          <a:srgbClr val="666699"/>
        </a:hlink>
        <a:folHlink>
          <a:srgbClr val="8CB0A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4">
        <a:dk1>
          <a:srgbClr val="455B41"/>
        </a:dk1>
        <a:lt1>
          <a:srgbClr val="FFFFCC"/>
        </a:lt1>
        <a:dk2>
          <a:srgbClr val="79A994"/>
        </a:dk2>
        <a:lt2>
          <a:srgbClr val="FFFFCC"/>
        </a:lt2>
        <a:accent1>
          <a:srgbClr val="517087"/>
        </a:accent1>
        <a:accent2>
          <a:srgbClr val="666699"/>
        </a:accent2>
        <a:accent3>
          <a:srgbClr val="BED1C8"/>
        </a:accent3>
        <a:accent4>
          <a:srgbClr val="DADAAE"/>
        </a:accent4>
        <a:accent5>
          <a:srgbClr val="B3BBC3"/>
        </a:accent5>
        <a:accent6>
          <a:srgbClr val="5C5C8A"/>
        </a:accent6>
        <a:hlink>
          <a:srgbClr val="993300"/>
        </a:hlink>
        <a:folHlink>
          <a:srgbClr val="A4AF6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5">
        <a:dk1>
          <a:srgbClr val="330000"/>
        </a:dk1>
        <a:lt1>
          <a:srgbClr val="FF9900"/>
        </a:lt1>
        <a:dk2>
          <a:srgbClr val="FFFFFF"/>
        </a:dk2>
        <a:lt2>
          <a:srgbClr val="8B3111"/>
        </a:lt2>
        <a:accent1>
          <a:srgbClr val="DD6D07"/>
        </a:accent1>
        <a:accent2>
          <a:srgbClr val="CC9900"/>
        </a:accent2>
        <a:accent3>
          <a:srgbClr val="FFCAAA"/>
        </a:accent3>
        <a:accent4>
          <a:srgbClr val="2A0000"/>
        </a:accent4>
        <a:accent5>
          <a:srgbClr val="EBBAAA"/>
        </a:accent5>
        <a:accent6>
          <a:srgbClr val="B98A00"/>
        </a:accent6>
        <a:hlink>
          <a:srgbClr val="CC330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6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CCCC99"/>
        </a:accent1>
        <a:accent2>
          <a:srgbClr val="FF0000"/>
        </a:accent2>
        <a:accent3>
          <a:srgbClr val="FFFFEE"/>
        </a:accent3>
        <a:accent4>
          <a:srgbClr val="000000"/>
        </a:accent4>
        <a:accent5>
          <a:srgbClr val="E2E2CA"/>
        </a:accent5>
        <a:accent6>
          <a:srgbClr val="E70000"/>
        </a:accent6>
        <a:hlink>
          <a:srgbClr val="9900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7">
        <a:dk1>
          <a:srgbClr val="000000"/>
        </a:dk1>
        <a:lt1>
          <a:srgbClr val="FFFFFF"/>
        </a:lt1>
        <a:dk2>
          <a:srgbClr val="000000"/>
        </a:dk2>
        <a:lt2>
          <a:srgbClr val="891411"/>
        </a:lt2>
        <a:accent1>
          <a:srgbClr val="4F917E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B2C7C0"/>
        </a:accent5>
        <a:accent6>
          <a:srgbClr val="B98A00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8">
        <a:dk1>
          <a:srgbClr val="000000"/>
        </a:dk1>
        <a:lt1>
          <a:srgbClr val="FFFFFF"/>
        </a:lt1>
        <a:dk2>
          <a:srgbClr val="CC0000"/>
        </a:dk2>
        <a:lt2>
          <a:srgbClr val="999966"/>
        </a:lt2>
        <a:accent1>
          <a:srgbClr val="CCCCCC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B9B95C"/>
        </a:accent6>
        <a:hlink>
          <a:srgbClr val="666699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9">
        <a:dk1>
          <a:srgbClr val="000000"/>
        </a:dk1>
        <a:lt1>
          <a:srgbClr val="FFFFFF"/>
        </a:lt1>
        <a:dk2>
          <a:srgbClr val="FF0000"/>
        </a:dk2>
        <a:lt2>
          <a:srgbClr val="009999"/>
        </a:lt2>
        <a:accent1>
          <a:srgbClr val="C7B505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E0D7AA"/>
        </a:accent5>
        <a:accent6>
          <a:srgbClr val="E7E75C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10">
        <a:dk1>
          <a:srgbClr val="000000"/>
        </a:dk1>
        <a:lt1>
          <a:srgbClr val="FFFFFF"/>
        </a:lt1>
        <a:dk2>
          <a:srgbClr val="660033"/>
        </a:dk2>
        <a:lt2>
          <a:srgbClr val="666699"/>
        </a:lt2>
        <a:accent1>
          <a:srgbClr val="95A3D1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C8CEE5"/>
        </a:accent5>
        <a:accent6>
          <a:srgbClr val="E7E75C"/>
        </a:accent6>
        <a:hlink>
          <a:srgbClr val="5A84D8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9032A480F42E647B8D9BDED97784600" ma:contentTypeVersion="2" ma:contentTypeDescription="Create a new document." ma:contentTypeScope="" ma:versionID="1475f87b00b7bf3f42ecc9bff1d73a17">
  <xsd:schema xmlns:xsd="http://www.w3.org/2001/XMLSchema" xmlns:xs="http://www.w3.org/2001/XMLSchema" xmlns:p="http://schemas.microsoft.com/office/2006/metadata/properties" xmlns:ns2="767e4319-1f02-4048-8410-bdb9c4501901" targetNamespace="http://schemas.microsoft.com/office/2006/metadata/properties" ma:root="true" ma:fieldsID="ab2905937831d3df4f33c49b7fb7e84f" ns2:_="">
    <xsd:import namespace="767e4319-1f02-4048-8410-bdb9c450190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7e4319-1f02-4048-8410-bdb9c450190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5215618-9C3D-4F93-8AE8-2CC7391A1176}"/>
</file>

<file path=customXml/itemProps2.xml><?xml version="1.0" encoding="utf-8"?>
<ds:datastoreItem xmlns:ds="http://schemas.openxmlformats.org/officeDocument/2006/customXml" ds:itemID="{D8D3CBAC-5C30-4EA5-AA02-F37847590F43}"/>
</file>

<file path=customXml/itemProps3.xml><?xml version="1.0" encoding="utf-8"?>
<ds:datastoreItem xmlns:ds="http://schemas.openxmlformats.org/officeDocument/2006/customXml" ds:itemID="{E1D1C507-2D14-496D-BDB2-D6AFCB4F117F}"/>
</file>

<file path=docProps/app.xml><?xml version="1.0" encoding="utf-8"?>
<Properties xmlns="http://schemas.openxmlformats.org/officeDocument/2006/extended-properties" xmlns:vt="http://schemas.openxmlformats.org/officeDocument/2006/docPropsVTypes">
  <Template>Layers</Template>
  <TotalTime>1536</TotalTime>
  <Words>250</Words>
  <Application>Microsoft Office PowerPoint</Application>
  <PresentationFormat>On-screen Show (4:3)</PresentationFormat>
  <Paragraphs>62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Times New Roman</vt:lpstr>
      <vt:lpstr>Wingdings</vt:lpstr>
      <vt:lpstr>Calibri</vt:lpstr>
      <vt:lpstr>Arial Rounded MT Bold</vt:lpstr>
      <vt:lpstr>Layers</vt:lpstr>
      <vt:lpstr>PROPOSITIONAL LOGIC  -   SYNTAX -</vt:lpstr>
      <vt:lpstr> Semantics of propositional logic </vt:lpstr>
      <vt:lpstr>Truth tables</vt:lpstr>
      <vt:lpstr>Stylistic variants in English for logical connectives </vt:lpstr>
      <vt:lpstr>Interpretation of a propositional formula</vt:lpstr>
      <vt:lpstr>Semantic concepts</vt:lpstr>
      <vt:lpstr>Semantic concepts (contd.)</vt:lpstr>
      <vt:lpstr>Problems in propositional logic</vt:lpstr>
      <vt:lpstr>Example 1. Build the truth tables of the formulas: </vt:lpstr>
      <vt:lpstr>Logical equivalences</vt:lpstr>
      <vt:lpstr>Logical equivalences (contd.)</vt:lpstr>
      <vt:lpstr>Logical equivalences (contd.) --- Definitions of the connectives ---</vt:lpstr>
      <vt:lpstr>PowerPoint Presentation</vt:lpstr>
      <vt:lpstr>Sets of propositional formulas</vt:lpstr>
      <vt:lpstr>Theorems (semantic results)</vt:lpstr>
      <vt:lpstr> Example</vt:lpstr>
      <vt:lpstr>Example (contd.)</vt:lpstr>
      <vt:lpstr>Example (contd.) – Truth table </vt:lpstr>
      <vt:lpstr>Normal forms - definitions</vt:lpstr>
      <vt:lpstr>Property</vt:lpstr>
      <vt:lpstr>Normalization algorithm</vt:lpstr>
      <vt:lpstr> Normal forms – theoretical results</vt:lpstr>
      <vt:lpstr>Example </vt:lpstr>
      <vt:lpstr>Example – models of a formula</vt:lpstr>
    </vt:vector>
  </TitlesOfParts>
  <Company>Microsoft Corporation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PROPOSITIONAL LOGIC  - SYNTAX-</dc:title>
  <dc:creator>Iulian Lupea</dc:creator>
  <cp:lastModifiedBy>MIHAELA-ANA LUPEA</cp:lastModifiedBy>
  <cp:revision>68</cp:revision>
  <dcterms:created xsi:type="dcterms:W3CDTF">2017-10-15T14:41:12Z</dcterms:created>
  <dcterms:modified xsi:type="dcterms:W3CDTF">2020-10-15T05:47:54Z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0x010100F9032A480F42E647B8D9BDED97784600</vt:lpwstr>
  </property>
</Properties>
</file>