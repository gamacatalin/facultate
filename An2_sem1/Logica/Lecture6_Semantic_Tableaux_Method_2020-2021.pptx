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2.xml" ContentType="application/vnd.openxmlformats-officedocument.presentationml.slide+xml"/>
  <Override PartName="/ppt/slides/slide10.xml" ContentType="application/vnd.openxmlformats-officedocument.presentationml.slide+xml"/>
  <Override PartName="/ppt/slides/slide9.xml" ContentType="application/vnd.openxmlformats-officedocument.presentationml.slide+xml"/>
  <Override PartName="/ppt/slides/slide8.xml" ContentType="application/vnd.openxmlformats-officedocument.presentationml.slide+xml"/>
  <Override PartName="/ppt/slides/slide7.xml" ContentType="application/vnd.openxmlformats-officedocument.presentationml.slide+xml"/>
  <Override PartName="/ppt/slides/slide6.xml" ContentType="application/vnd.openxmlformats-officedocument.presentationml.slide+xml"/>
  <Override PartName="/ppt/slides/slide5.xml" ContentType="application/vnd.openxmlformats-officedocument.presentationml.slide+xml"/>
  <Override PartName="/ppt/slides/slide4.xml" ContentType="application/vnd.openxmlformats-officedocument.presentationml.slide+xml"/>
  <Override PartName="/ppt/slides/slide3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1.xml" ContentType="application/vnd.openxmlformats-officedocument.presentationml.slide+xml"/>
  <Override PartName="/ppt/slides/slide20.xml" ContentType="application/vnd.openxmlformats-officedocument.presentationml.slide+xml"/>
  <Override PartName="/ppt/slides/slide19.xml" ContentType="application/vnd.openxmlformats-officedocument.presentationml.slide+xml"/>
  <Override PartName="/ppt/slides/slide1.xml" ContentType="application/vnd.openxmlformats-officedocument.presentationml.slide+xml"/>
  <Override PartName="/ppt/slides/slide18.xml" ContentType="application/vnd.openxmlformats-officedocument.presentationml.slide+xml"/>
  <Override PartName="/ppt/slides/slide16.xml" ContentType="application/vnd.openxmlformats-officedocument.presentationml.slide+xml"/>
  <Override PartName="/ppt/slides/slide15.xml" ContentType="application/vnd.openxmlformats-officedocument.presentationml.slide+xml"/>
  <Override PartName="/ppt/slides/slide14.xml" ContentType="application/vnd.openxmlformats-officedocument.presentationml.slide+xml"/>
  <Override PartName="/ppt/slides/slide17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app.xml" ContentType="application/vnd.openxmlformats-officedocument.extended-properties+xml"/>
  <Override PartName="/docProps/core.xml" ContentType="application/vnd.openxmlformats-package.core-properties+xml"/>
  <Override PartName="/customXml/itemProps2.xml" ContentType="application/vnd.openxmlformats-officedocument.customXmlProperties+xml"/>
  <Override PartName="/customXml/itemProps1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9" r:id="rId1"/>
  </p:sldMasterIdLst>
  <p:sldIdLst>
    <p:sldId id="273" r:id="rId2"/>
    <p:sldId id="274" r:id="rId3"/>
    <p:sldId id="275" r:id="rId4"/>
    <p:sldId id="260" r:id="rId5"/>
    <p:sldId id="258" r:id="rId6"/>
    <p:sldId id="259" r:id="rId7"/>
    <p:sldId id="261" r:id="rId8"/>
    <p:sldId id="262" r:id="rId9"/>
    <p:sldId id="264" r:id="rId10"/>
    <p:sldId id="263" r:id="rId11"/>
    <p:sldId id="282" r:id="rId12"/>
    <p:sldId id="280" r:id="rId13"/>
    <p:sldId id="279" r:id="rId14"/>
    <p:sldId id="278" r:id="rId15"/>
    <p:sldId id="266" r:id="rId16"/>
    <p:sldId id="276" r:id="rId17"/>
    <p:sldId id="267" r:id="rId18"/>
    <p:sldId id="281" r:id="rId19"/>
    <p:sldId id="269" r:id="rId20"/>
    <p:sldId id="270" r:id="rId21"/>
    <p:sldId id="272" r:id="rId22"/>
  </p:sldIdLst>
  <p:sldSz cx="9144000" cy="6858000" type="screen4x3"/>
  <p:notesSz cx="6858000" cy="9144000"/>
  <p:defaultTextStyle>
    <a:defPPr>
      <a:defRPr lang="ro-RO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88" d="100"/>
          <a:sy n="88" d="100"/>
        </p:scale>
        <p:origin x="768" y="53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customXml" Target="../customXml/item3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28" Type="http://schemas.openxmlformats.org/officeDocument/2006/relationships/customXml" Target="../customXml/item2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customXml" Target="../customXml/item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2"/>
          <p:cNvGrpSpPr>
            <a:grpSpLocks/>
          </p:cNvGrpSpPr>
          <p:nvPr/>
        </p:nvGrpSpPr>
        <p:grpSpPr bwMode="auto">
          <a:xfrm>
            <a:off x="0" y="2438400"/>
            <a:ext cx="9009063" cy="1052513"/>
            <a:chOff x="0" y="1536"/>
            <a:chExt cx="5675" cy="663"/>
          </a:xfrm>
        </p:grpSpPr>
        <p:grpSp>
          <p:nvGrpSpPr>
            <p:cNvPr id="5" name="Group 3"/>
            <p:cNvGrpSpPr>
              <a:grpSpLocks/>
            </p:cNvGrpSpPr>
            <p:nvPr/>
          </p:nvGrpSpPr>
          <p:grpSpPr bwMode="auto">
            <a:xfrm>
              <a:off x="185" y="1604"/>
              <a:ext cx="449" cy="299"/>
              <a:chOff x="720" y="336"/>
              <a:chExt cx="624" cy="432"/>
            </a:xfrm>
          </p:grpSpPr>
          <p:sp>
            <p:nvSpPr>
              <p:cNvPr id="12" name="Rectangle 4"/>
              <p:cNvSpPr>
                <a:spLocks noChangeArrowheads="1"/>
              </p:cNvSpPr>
              <p:nvPr/>
            </p:nvSpPr>
            <p:spPr bwMode="auto">
              <a:xfrm>
                <a:off x="720" y="336"/>
                <a:ext cx="384" cy="432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9pPr>
              </a:lstStyle>
              <a:p>
                <a:pPr eaLnBrk="1" hangingPunct="1">
                  <a:defRPr/>
                </a:pPr>
                <a:endParaRPr lang="en-US" smtClean="0"/>
              </a:p>
            </p:txBody>
          </p:sp>
          <p:sp>
            <p:nvSpPr>
              <p:cNvPr id="13" name="Rectangle 5"/>
              <p:cNvSpPr>
                <a:spLocks noChangeArrowheads="1"/>
              </p:cNvSpPr>
              <p:nvPr/>
            </p:nvSpPr>
            <p:spPr bwMode="auto">
              <a:xfrm>
                <a:off x="1056" y="336"/>
                <a:ext cx="288" cy="432"/>
              </a:xfrm>
              <a:prstGeom prst="rect">
                <a:avLst/>
              </a:prstGeom>
              <a:gradFill rotWithShape="0">
                <a:gsLst>
                  <a:gs pos="0">
                    <a:schemeClr val="folHlink"/>
                  </a:gs>
                  <a:gs pos="100000">
                    <a:schemeClr val="bg1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9pPr>
              </a:lstStyle>
              <a:p>
                <a:pPr eaLnBrk="1" hangingPunct="1">
                  <a:defRPr/>
                </a:pPr>
                <a:endParaRPr lang="en-US" smtClean="0"/>
              </a:p>
            </p:txBody>
          </p:sp>
        </p:grpSp>
        <p:grpSp>
          <p:nvGrpSpPr>
            <p:cNvPr id="6" name="Group 6"/>
            <p:cNvGrpSpPr>
              <a:grpSpLocks/>
            </p:cNvGrpSpPr>
            <p:nvPr/>
          </p:nvGrpSpPr>
          <p:grpSpPr bwMode="auto">
            <a:xfrm>
              <a:off x="263" y="1870"/>
              <a:ext cx="466" cy="299"/>
              <a:chOff x="912" y="2640"/>
              <a:chExt cx="672" cy="432"/>
            </a:xfrm>
          </p:grpSpPr>
          <p:sp>
            <p:nvSpPr>
              <p:cNvPr id="10" name="Rectangle 7"/>
              <p:cNvSpPr>
                <a:spLocks noChangeArrowheads="1"/>
              </p:cNvSpPr>
              <p:nvPr/>
            </p:nvSpPr>
            <p:spPr bwMode="auto">
              <a:xfrm>
                <a:off x="912" y="2640"/>
                <a:ext cx="384" cy="432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9pPr>
              </a:lstStyle>
              <a:p>
                <a:pPr eaLnBrk="1" hangingPunct="1">
                  <a:defRPr/>
                </a:pPr>
                <a:endParaRPr lang="en-US" smtClean="0"/>
              </a:p>
            </p:txBody>
          </p:sp>
          <p:sp>
            <p:nvSpPr>
              <p:cNvPr id="11" name="Rectangle 8"/>
              <p:cNvSpPr>
                <a:spLocks noChangeArrowheads="1"/>
              </p:cNvSpPr>
              <p:nvPr/>
            </p:nvSpPr>
            <p:spPr bwMode="auto">
              <a:xfrm>
                <a:off x="1248" y="2640"/>
                <a:ext cx="336" cy="432"/>
              </a:xfrm>
              <a:prstGeom prst="rect">
                <a:avLst/>
              </a:prstGeom>
              <a:gradFill rotWithShape="0">
                <a:gsLst>
                  <a:gs pos="0">
                    <a:schemeClr val="accent2"/>
                  </a:gs>
                  <a:gs pos="100000">
                    <a:schemeClr val="bg1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9pPr>
              </a:lstStyle>
              <a:p>
                <a:pPr eaLnBrk="1" hangingPunct="1">
                  <a:defRPr/>
                </a:pPr>
                <a:endParaRPr lang="en-US" smtClean="0"/>
              </a:p>
            </p:txBody>
          </p:sp>
        </p:grpSp>
        <p:sp>
          <p:nvSpPr>
            <p:cNvPr id="7" name="Rectangle 9"/>
            <p:cNvSpPr>
              <a:spLocks noChangeArrowheads="1"/>
            </p:cNvSpPr>
            <p:nvPr/>
          </p:nvSpPr>
          <p:spPr bwMode="auto">
            <a:xfrm>
              <a:off x="0" y="1824"/>
              <a:ext cx="353" cy="266"/>
            </a:xfrm>
            <a:prstGeom prst="rect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hlink"/>
                </a:gs>
              </a:gsLst>
              <a:lin ang="189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>
                <a:defRPr/>
              </a:pPr>
              <a:endParaRPr lang="en-US" smtClean="0"/>
            </a:p>
          </p:txBody>
        </p:sp>
        <p:sp>
          <p:nvSpPr>
            <p:cNvPr id="8" name="Rectangle 10"/>
            <p:cNvSpPr>
              <a:spLocks noChangeArrowheads="1"/>
            </p:cNvSpPr>
            <p:nvPr/>
          </p:nvSpPr>
          <p:spPr bwMode="auto">
            <a:xfrm>
              <a:off x="400" y="1536"/>
              <a:ext cx="20" cy="663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>
                <a:defRPr/>
              </a:pPr>
              <a:endParaRPr lang="en-US" smtClean="0"/>
            </a:p>
          </p:txBody>
        </p:sp>
        <p:sp>
          <p:nvSpPr>
            <p:cNvPr id="9" name="Rectangle 11"/>
            <p:cNvSpPr>
              <a:spLocks noChangeArrowheads="1"/>
            </p:cNvSpPr>
            <p:nvPr/>
          </p:nvSpPr>
          <p:spPr bwMode="auto">
            <a:xfrm flipV="1">
              <a:off x="199" y="2054"/>
              <a:ext cx="5476" cy="35"/>
            </a:xfrm>
            <a:prstGeom prst="rect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>
                <a:defRPr/>
              </a:pPr>
              <a:endParaRPr lang="en-US" smtClean="0"/>
            </a:p>
          </p:txBody>
        </p:sp>
      </p:grpSp>
      <p:sp>
        <p:nvSpPr>
          <p:cNvPr id="46092" name="Rectangle 12"/>
          <p:cNvSpPr>
            <a:spLocks noGrp="1" noChangeArrowheads="1"/>
          </p:cNvSpPr>
          <p:nvPr>
            <p:ph type="ctrTitle"/>
          </p:nvPr>
        </p:nvSpPr>
        <p:spPr>
          <a:xfrm>
            <a:off x="990600" y="1676400"/>
            <a:ext cx="7772400" cy="1462088"/>
          </a:xfrm>
        </p:spPr>
        <p:txBody>
          <a:bodyPr/>
          <a:lstStyle>
            <a:lvl1pPr>
              <a:defRPr/>
            </a:lvl1pPr>
          </a:lstStyle>
          <a:p>
            <a:r>
              <a:rPr lang="ro-RO"/>
              <a:t>Click to edit Master title style</a:t>
            </a:r>
          </a:p>
        </p:txBody>
      </p:sp>
      <p:sp>
        <p:nvSpPr>
          <p:cNvPr id="46093" name="Rectangle 13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Font typeface="Wingdings" pitchFamily="2" charset="2"/>
              <a:buNone/>
              <a:defRPr/>
            </a:lvl1pPr>
          </a:lstStyle>
          <a:p>
            <a:r>
              <a:rPr lang="ro-RO"/>
              <a:t>Click to edit Master subtitle style</a:t>
            </a:r>
          </a:p>
        </p:txBody>
      </p:sp>
      <p:sp>
        <p:nvSpPr>
          <p:cNvPr id="14" name="Rectangle 14"/>
          <p:cNvSpPr>
            <a:spLocks noGrp="1" noChangeArrowheads="1"/>
          </p:cNvSpPr>
          <p:nvPr>
            <p:ph type="dt" sz="half" idx="10"/>
          </p:nvPr>
        </p:nvSpPr>
        <p:spPr>
          <a:xfrm>
            <a:off x="990600" y="6248400"/>
            <a:ext cx="1905000" cy="457200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pPr>
              <a:defRPr/>
            </a:pPr>
            <a:endParaRPr lang="ro-RO"/>
          </a:p>
        </p:txBody>
      </p:sp>
      <p:sp>
        <p:nvSpPr>
          <p:cNvPr id="15" name="Rectangle 15"/>
          <p:cNvSpPr>
            <a:spLocks noGrp="1" noChangeArrowheads="1"/>
          </p:cNvSpPr>
          <p:nvPr>
            <p:ph type="ftr" sz="quarter" idx="11"/>
          </p:nvPr>
        </p:nvSpPr>
        <p:spPr>
          <a:xfrm>
            <a:off x="3429000" y="6248400"/>
            <a:ext cx="2895600" cy="457200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pPr>
              <a:defRPr/>
            </a:pPr>
            <a:endParaRPr lang="ro-RO"/>
          </a:p>
        </p:txBody>
      </p:sp>
      <p:sp>
        <p:nvSpPr>
          <p:cNvPr id="16" name="Rectangle 1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858000" y="6248400"/>
            <a:ext cx="1905000" cy="457200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pPr>
              <a:defRPr/>
            </a:pPr>
            <a:fld id="{E98A5A24-8A6B-430E-A0FA-E8B3A57652F7}" type="slidenum">
              <a:rPr lang="ro-RO"/>
              <a:pPr>
                <a:defRPr/>
              </a:pPr>
              <a:t>‹#›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347205916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11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o-RO"/>
          </a:p>
        </p:txBody>
      </p:sp>
      <p:sp>
        <p:nvSpPr>
          <p:cNvPr id="5" name="Rectangle 12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o-RO"/>
          </a:p>
        </p:txBody>
      </p:sp>
      <p:sp>
        <p:nvSpPr>
          <p:cNvPr id="6" name="Rectangle 13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C7E2E92-CD6E-45B2-BCEE-CBC3B29184F0}" type="slidenum">
              <a:rPr lang="ro-RO"/>
              <a:pPr>
                <a:defRPr/>
              </a:pPr>
              <a:t>‹#›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28076224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11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o-RO"/>
          </a:p>
        </p:txBody>
      </p:sp>
      <p:sp>
        <p:nvSpPr>
          <p:cNvPr id="5" name="Rectangle 12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o-RO"/>
          </a:p>
        </p:txBody>
      </p:sp>
      <p:sp>
        <p:nvSpPr>
          <p:cNvPr id="6" name="Rectangle 13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B8401DE-933F-4AAE-BC74-B3BFDB2BF4A8}" type="slidenum">
              <a:rPr lang="ro-RO"/>
              <a:pPr>
                <a:defRPr/>
              </a:pPr>
              <a:t>‹#›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373506648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82688" y="2017713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145088" y="2017713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Rectangle 11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o-RO"/>
          </a:p>
        </p:txBody>
      </p:sp>
      <p:sp>
        <p:nvSpPr>
          <p:cNvPr id="6" name="Rectangle 12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o-RO"/>
          </a:p>
        </p:txBody>
      </p:sp>
      <p:sp>
        <p:nvSpPr>
          <p:cNvPr id="7" name="Rectangle 13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58A1650-9BD3-4C9C-9BE0-9BE8252D6349}" type="slidenum">
              <a:rPr lang="ro-RO"/>
              <a:pPr>
                <a:defRPr/>
              </a:pPr>
              <a:t>‹#›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63718397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Rectangle 11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o-RO"/>
          </a:p>
        </p:txBody>
      </p:sp>
      <p:sp>
        <p:nvSpPr>
          <p:cNvPr id="8" name="Rectangle 12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o-RO"/>
          </a:p>
        </p:txBody>
      </p:sp>
      <p:sp>
        <p:nvSpPr>
          <p:cNvPr id="9" name="Rectangle 13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8679772-4598-435D-BAFB-2AD8F52E9017}" type="slidenum">
              <a:rPr lang="ro-RO"/>
              <a:pPr>
                <a:defRPr/>
              </a:pPr>
              <a:t>‹#›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15633473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Rectangle 11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o-RO"/>
          </a:p>
        </p:txBody>
      </p:sp>
      <p:sp>
        <p:nvSpPr>
          <p:cNvPr id="4" name="Rectangle 12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o-RO"/>
          </a:p>
        </p:txBody>
      </p:sp>
      <p:sp>
        <p:nvSpPr>
          <p:cNvPr id="5" name="Rectangle 13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84BAF97-CB85-4F55-B553-AA7AEA63C832}" type="slidenum">
              <a:rPr lang="ro-RO"/>
              <a:pPr>
                <a:defRPr/>
              </a:pPr>
              <a:t>‹#›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116346009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1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o-RO"/>
          </a:p>
        </p:txBody>
      </p:sp>
      <p:sp>
        <p:nvSpPr>
          <p:cNvPr id="3" name="Rectangle 12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o-RO"/>
          </a:p>
        </p:txBody>
      </p:sp>
      <p:sp>
        <p:nvSpPr>
          <p:cNvPr id="4" name="Rectangle 13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AF31009-5BE9-46CF-B81B-13049D4E2C75}" type="slidenum">
              <a:rPr lang="ro-RO"/>
              <a:pPr>
                <a:defRPr/>
              </a:pPr>
              <a:t>‹#›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26747604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11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o-RO"/>
          </a:p>
        </p:txBody>
      </p:sp>
      <p:sp>
        <p:nvSpPr>
          <p:cNvPr id="6" name="Rectangle 12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o-RO"/>
          </a:p>
        </p:txBody>
      </p:sp>
      <p:sp>
        <p:nvSpPr>
          <p:cNvPr id="7" name="Rectangle 13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E5D3B31-F824-40D5-81F3-86EC92C7EAD7}" type="slidenum">
              <a:rPr lang="ro-RO"/>
              <a:pPr>
                <a:defRPr/>
              </a:pPr>
              <a:t>‹#›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41081721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11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o-RO"/>
          </a:p>
        </p:txBody>
      </p:sp>
      <p:sp>
        <p:nvSpPr>
          <p:cNvPr id="6" name="Rectangle 12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o-RO"/>
          </a:p>
        </p:txBody>
      </p:sp>
      <p:sp>
        <p:nvSpPr>
          <p:cNvPr id="7" name="Rectangle 13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2E90B87-5F8E-40FF-A4CB-C9ABEDCB3BEA}" type="slidenum">
              <a:rPr lang="ro-RO"/>
              <a:pPr>
                <a:defRPr/>
              </a:pPr>
              <a:t>‹#›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142778240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11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o-RO"/>
          </a:p>
        </p:txBody>
      </p:sp>
      <p:sp>
        <p:nvSpPr>
          <p:cNvPr id="5" name="Rectangle 12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o-RO"/>
          </a:p>
        </p:txBody>
      </p:sp>
      <p:sp>
        <p:nvSpPr>
          <p:cNvPr id="6" name="Rectangle 13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49E8AFB-02A9-4E98-8676-C34678F1F791}" type="slidenum">
              <a:rPr lang="ro-RO"/>
              <a:pPr>
                <a:defRPr/>
              </a:pPr>
              <a:t>‹#›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304381207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04050" y="214313"/>
            <a:ext cx="1951038" cy="59182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0938" y="214313"/>
            <a:ext cx="5700712" cy="59182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11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o-RO"/>
          </a:p>
        </p:txBody>
      </p:sp>
      <p:sp>
        <p:nvSpPr>
          <p:cNvPr id="5" name="Rectangle 12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o-RO"/>
          </a:p>
        </p:txBody>
      </p:sp>
      <p:sp>
        <p:nvSpPr>
          <p:cNvPr id="6" name="Rectangle 13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13C08AD-0885-4384-89BD-811E855B8359}" type="slidenum">
              <a:rPr lang="ro-RO"/>
              <a:pPr>
                <a:defRPr/>
              </a:pPr>
              <a:t>‹#›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266273522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0938" y="214313"/>
            <a:ext cx="7793037" cy="1462087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able Placeholder 2"/>
          <p:cNvSpPr>
            <a:spLocks noGrp="1"/>
          </p:cNvSpPr>
          <p:nvPr>
            <p:ph type="tbl" idx="1"/>
          </p:nvPr>
        </p:nvSpPr>
        <p:spPr>
          <a:xfrm>
            <a:off x="1182688" y="2017713"/>
            <a:ext cx="7772400" cy="4114800"/>
          </a:xfrm>
        </p:spPr>
        <p:txBody>
          <a:bodyPr/>
          <a:lstStyle/>
          <a:p>
            <a:pPr lvl="0"/>
            <a:endParaRPr lang="en-US" noProof="0" smtClean="0"/>
          </a:p>
        </p:txBody>
      </p:sp>
      <p:sp>
        <p:nvSpPr>
          <p:cNvPr id="4" name="Rectangle 11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o-RO"/>
          </a:p>
        </p:txBody>
      </p:sp>
      <p:sp>
        <p:nvSpPr>
          <p:cNvPr id="5" name="Rectangle 12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o-RO"/>
          </a:p>
        </p:txBody>
      </p:sp>
      <p:sp>
        <p:nvSpPr>
          <p:cNvPr id="6" name="Rectangle 13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9C6218D-6463-49AC-AD12-B9C73BF1A507}" type="slidenum">
              <a:rPr lang="ro-RO"/>
              <a:pPr>
                <a:defRPr/>
              </a:pPr>
              <a:t>‹#›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30908140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ChangeArrowheads="1"/>
          </p:cNvSpPr>
          <p:nvPr/>
        </p:nvSpPr>
        <p:spPr bwMode="ltGray">
          <a:xfrm>
            <a:off x="417513" y="1098550"/>
            <a:ext cx="438150" cy="474663"/>
          </a:xfrm>
          <a:prstGeom prst="rect">
            <a:avLst/>
          </a:prstGeom>
          <a:solidFill>
            <a:schemeClr val="accent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defRPr/>
            </a:pPr>
            <a:endParaRPr kumimoji="1" lang="en-US" sz="2400" smtClean="0"/>
          </a:p>
        </p:txBody>
      </p:sp>
      <p:sp>
        <p:nvSpPr>
          <p:cNvPr id="1027" name="Rectangle 3"/>
          <p:cNvSpPr>
            <a:spLocks noChangeArrowheads="1"/>
          </p:cNvSpPr>
          <p:nvPr/>
        </p:nvSpPr>
        <p:spPr bwMode="ltGray">
          <a:xfrm>
            <a:off x="800100" y="1098550"/>
            <a:ext cx="328613" cy="474663"/>
          </a:xfrm>
          <a:prstGeom prst="rect">
            <a:avLst/>
          </a:prstGeom>
          <a:gradFill rotWithShape="0">
            <a:gsLst>
              <a:gs pos="0">
                <a:schemeClr val="accent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defRPr/>
            </a:pPr>
            <a:endParaRPr kumimoji="1" lang="en-US" sz="2400" smtClean="0"/>
          </a:p>
        </p:txBody>
      </p:sp>
      <p:sp>
        <p:nvSpPr>
          <p:cNvPr id="1028" name="Rectangle 4"/>
          <p:cNvSpPr>
            <a:spLocks noChangeArrowheads="1"/>
          </p:cNvSpPr>
          <p:nvPr/>
        </p:nvSpPr>
        <p:spPr bwMode="ltGray">
          <a:xfrm>
            <a:off x="541338" y="1520825"/>
            <a:ext cx="422275" cy="474663"/>
          </a:xfrm>
          <a:prstGeom prst="rect">
            <a:avLst/>
          </a:prstGeom>
          <a:solidFill>
            <a:schemeClr val="folHlink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defRPr/>
            </a:pPr>
            <a:endParaRPr kumimoji="1" lang="en-US" sz="2400" smtClean="0"/>
          </a:p>
        </p:txBody>
      </p:sp>
      <p:sp>
        <p:nvSpPr>
          <p:cNvPr id="1029" name="Rectangle 5"/>
          <p:cNvSpPr>
            <a:spLocks noChangeArrowheads="1"/>
          </p:cNvSpPr>
          <p:nvPr/>
        </p:nvSpPr>
        <p:spPr bwMode="ltGray">
          <a:xfrm>
            <a:off x="911225" y="1520825"/>
            <a:ext cx="368300" cy="474663"/>
          </a:xfrm>
          <a:prstGeom prst="rect">
            <a:avLst/>
          </a:prstGeom>
          <a:gradFill rotWithShape="0">
            <a:gsLst>
              <a:gs pos="0">
                <a:schemeClr val="folHlink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defRPr/>
            </a:pPr>
            <a:endParaRPr kumimoji="1" lang="en-US" sz="2400" smtClean="0"/>
          </a:p>
        </p:txBody>
      </p:sp>
      <p:sp>
        <p:nvSpPr>
          <p:cNvPr id="1030" name="Rectangle 6"/>
          <p:cNvSpPr>
            <a:spLocks noChangeArrowheads="1"/>
          </p:cNvSpPr>
          <p:nvPr/>
        </p:nvSpPr>
        <p:spPr bwMode="ltGray">
          <a:xfrm>
            <a:off x="127000" y="1447800"/>
            <a:ext cx="560388" cy="422275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hlink"/>
              </a:gs>
            </a:gsLst>
            <a:lin ang="189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defRPr/>
            </a:pPr>
            <a:endParaRPr kumimoji="1" lang="en-US" sz="2400" smtClean="0"/>
          </a:p>
        </p:txBody>
      </p:sp>
      <p:sp>
        <p:nvSpPr>
          <p:cNvPr id="1031" name="Rectangle 7"/>
          <p:cNvSpPr>
            <a:spLocks noChangeArrowheads="1"/>
          </p:cNvSpPr>
          <p:nvPr/>
        </p:nvSpPr>
        <p:spPr bwMode="gray">
          <a:xfrm>
            <a:off x="762000" y="990600"/>
            <a:ext cx="31750" cy="1052513"/>
          </a:xfrm>
          <a:prstGeom prst="rect">
            <a:avLst/>
          </a:prstGeom>
          <a:solidFill>
            <a:schemeClr val="bg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defRPr/>
            </a:pPr>
            <a:endParaRPr kumimoji="1" lang="en-US" sz="2400" smtClean="0"/>
          </a:p>
        </p:txBody>
      </p:sp>
      <p:sp>
        <p:nvSpPr>
          <p:cNvPr id="1032" name="Rectangle 8"/>
          <p:cNvSpPr>
            <a:spLocks noChangeArrowheads="1"/>
          </p:cNvSpPr>
          <p:nvPr/>
        </p:nvSpPr>
        <p:spPr bwMode="gray">
          <a:xfrm>
            <a:off x="442913" y="1781175"/>
            <a:ext cx="8226425" cy="31750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defRPr/>
            </a:pPr>
            <a:endParaRPr kumimoji="1" lang="en-US" sz="2400" smtClean="0"/>
          </a:p>
        </p:txBody>
      </p:sp>
      <p:sp>
        <p:nvSpPr>
          <p:cNvPr id="1033" name="Rectangle 9"/>
          <p:cNvSpPr>
            <a:spLocks noGrp="1" noChangeArrowheads="1"/>
          </p:cNvSpPr>
          <p:nvPr>
            <p:ph type="title"/>
          </p:nvPr>
        </p:nvSpPr>
        <p:spPr bwMode="auto">
          <a:xfrm>
            <a:off x="1150938" y="214313"/>
            <a:ext cx="7793037" cy="14620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ro-RO" smtClean="0"/>
              <a:t>Click to edit Master title style</a:t>
            </a:r>
          </a:p>
        </p:txBody>
      </p:sp>
      <p:sp>
        <p:nvSpPr>
          <p:cNvPr id="1034" name="Rectangle 10"/>
          <p:cNvSpPr>
            <a:spLocks noGrp="1" noChangeArrowheads="1"/>
          </p:cNvSpPr>
          <p:nvPr>
            <p:ph type="body" idx="1"/>
          </p:nvPr>
        </p:nvSpPr>
        <p:spPr bwMode="auto">
          <a:xfrm>
            <a:off x="1182688" y="2017713"/>
            <a:ext cx="7772400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ro-RO" smtClean="0"/>
              <a:t>Click to edit Master text styles</a:t>
            </a:r>
          </a:p>
          <a:p>
            <a:pPr lvl="1"/>
            <a:r>
              <a:rPr lang="ro-RO" smtClean="0"/>
              <a:t>Second level</a:t>
            </a:r>
          </a:p>
          <a:p>
            <a:pPr lvl="2"/>
            <a:r>
              <a:rPr lang="ro-RO" smtClean="0"/>
              <a:t>Third level</a:t>
            </a:r>
          </a:p>
          <a:p>
            <a:pPr lvl="3"/>
            <a:r>
              <a:rPr lang="ro-RO" smtClean="0"/>
              <a:t>Fourth level</a:t>
            </a:r>
          </a:p>
          <a:p>
            <a:pPr lvl="4"/>
            <a:r>
              <a:rPr lang="ro-RO" smtClean="0"/>
              <a:t>Fifth level</a:t>
            </a:r>
          </a:p>
        </p:txBody>
      </p:sp>
      <p:sp>
        <p:nvSpPr>
          <p:cNvPr id="45067" name="Rectangle 11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1162050" y="6243638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400"/>
            </a:lvl1pPr>
          </a:lstStyle>
          <a:p>
            <a:pPr>
              <a:defRPr/>
            </a:pPr>
            <a:endParaRPr lang="ro-RO"/>
          </a:p>
        </p:txBody>
      </p:sp>
      <p:sp>
        <p:nvSpPr>
          <p:cNvPr id="45068" name="Rectangle 12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657600" y="6243638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 eaLnBrk="1" hangingPunct="1">
              <a:defRPr sz="1400"/>
            </a:lvl1pPr>
          </a:lstStyle>
          <a:p>
            <a:pPr>
              <a:defRPr/>
            </a:pPr>
            <a:endParaRPr lang="ro-RO"/>
          </a:p>
        </p:txBody>
      </p:sp>
      <p:sp>
        <p:nvSpPr>
          <p:cNvPr id="45069" name="Rectangle 13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042150" y="6243638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400"/>
            </a:lvl1pPr>
          </a:lstStyle>
          <a:p>
            <a:pPr>
              <a:defRPr/>
            </a:pPr>
            <a:fld id="{4E5FFC7C-C34C-4738-90FB-C112F8395C8E}" type="slidenum">
              <a:rPr lang="ro-RO"/>
              <a:pPr>
                <a:defRPr/>
              </a:pPr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79" r:id="rId1"/>
    <p:sldLayoutId id="2147483768" r:id="rId2"/>
    <p:sldLayoutId id="2147483769" r:id="rId3"/>
    <p:sldLayoutId id="2147483770" r:id="rId4"/>
    <p:sldLayoutId id="2147483771" r:id="rId5"/>
    <p:sldLayoutId id="2147483772" r:id="rId6"/>
    <p:sldLayoutId id="2147483773" r:id="rId7"/>
    <p:sldLayoutId id="2147483774" r:id="rId8"/>
    <p:sldLayoutId id="2147483775" r:id="rId9"/>
    <p:sldLayoutId id="2147483776" r:id="rId10"/>
    <p:sldLayoutId id="2147483777" r:id="rId11"/>
    <p:sldLayoutId id="2147483778" r:id="rId12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60000"/>
        <a:buFont typeface="Wingdings" panose="05000000000000000000" pitchFamily="2" charset="2"/>
        <a:buChar char="n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55000"/>
        <a:buFont typeface="Wingdings" panose="05000000000000000000" pitchFamily="2" charset="2"/>
        <a:buChar char="n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50000"/>
        <a:buFont typeface="Wingdings" panose="05000000000000000000" pitchFamily="2" charset="2"/>
        <a:buChar char="n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55000"/>
        <a:buFont typeface="Wingdings" panose="05000000000000000000" pitchFamily="2" charset="2"/>
        <a:buChar char="n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anose="05000000000000000000" pitchFamily="2" charset="2"/>
        <a:buChar char="n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6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7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png"/><Relationship Id="rId3" Type="http://schemas.openxmlformats.org/officeDocument/2006/relationships/image" Target="../media/image19.png"/><Relationship Id="rId7" Type="http://schemas.openxmlformats.org/officeDocument/2006/relationships/image" Target="../media/image23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2.png"/><Relationship Id="rId11" Type="http://schemas.openxmlformats.org/officeDocument/2006/relationships/image" Target="../media/image26.png"/><Relationship Id="rId5" Type="http://schemas.openxmlformats.org/officeDocument/2006/relationships/image" Target="../media/image21.png"/><Relationship Id="rId10" Type="http://schemas.openxmlformats.org/officeDocument/2006/relationships/image" Target="../media/image25.png"/><Relationship Id="rId4" Type="http://schemas.openxmlformats.org/officeDocument/2006/relationships/image" Target="../media/image20.png"/><Relationship Id="rId9" Type="http://schemas.openxmlformats.org/officeDocument/2006/relationships/image" Target="../media/image1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1.png"/><Relationship Id="rId4" Type="http://schemas.openxmlformats.org/officeDocument/2006/relationships/image" Target="../media/image29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7.png"/><Relationship Id="rId3" Type="http://schemas.openxmlformats.org/officeDocument/2006/relationships/image" Target="../media/image32.png"/><Relationship Id="rId7" Type="http://schemas.openxmlformats.org/officeDocument/2006/relationships/image" Target="../media/image36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5.png"/><Relationship Id="rId11" Type="http://schemas.openxmlformats.org/officeDocument/2006/relationships/image" Target="../media/image1.png"/><Relationship Id="rId5" Type="http://schemas.openxmlformats.org/officeDocument/2006/relationships/image" Target="../media/image34.png"/><Relationship Id="rId10" Type="http://schemas.openxmlformats.org/officeDocument/2006/relationships/image" Target="../media/image39.png"/><Relationship Id="rId4" Type="http://schemas.openxmlformats.org/officeDocument/2006/relationships/image" Target="../media/image33.png"/><Relationship Id="rId9" Type="http://schemas.openxmlformats.org/officeDocument/2006/relationships/image" Target="../media/image38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1.png"/><Relationship Id="rId4" Type="http://schemas.openxmlformats.org/officeDocument/2006/relationships/image" Target="../media/image4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Title 1"/>
          <p:cNvSpPr>
            <a:spLocks noGrp="1"/>
          </p:cNvSpPr>
          <p:nvPr>
            <p:ph type="title"/>
          </p:nvPr>
        </p:nvSpPr>
        <p:spPr>
          <a:xfrm>
            <a:off x="342900" y="307975"/>
            <a:ext cx="7696200" cy="914400"/>
          </a:xfrm>
        </p:spPr>
        <p:txBody>
          <a:bodyPr/>
          <a:lstStyle/>
          <a:p>
            <a:r>
              <a:rPr lang="en-US" sz="2400" b="1" u="sng" smtClean="0"/>
              <a:t>DECISION PROBLEMS</a:t>
            </a:r>
            <a:r>
              <a:rPr lang="en-US" sz="2400" smtClean="0"/>
              <a:t> </a:t>
            </a:r>
            <a:br>
              <a:rPr lang="en-US" sz="2400" smtClean="0"/>
            </a:br>
            <a:r>
              <a:rPr lang="en-US" sz="2400" smtClean="0"/>
              <a:t>	   </a:t>
            </a:r>
            <a:r>
              <a:rPr lang="en-US" sz="2400" b="1" u="sng" smtClean="0"/>
              <a:t>IN PROPOSITIONAL/PREDICATE LOGIC</a:t>
            </a:r>
          </a:p>
        </p:txBody>
      </p:sp>
      <p:sp>
        <p:nvSpPr>
          <p:cNvPr id="3075" name="Content Placeholder 4"/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7467600" cy="4873625"/>
          </a:xfrm>
        </p:spPr>
        <p:txBody>
          <a:bodyPr/>
          <a:lstStyle/>
          <a:p>
            <a:endParaRPr lang="en-US" smtClean="0"/>
          </a:p>
        </p:txBody>
      </p:sp>
      <p:pic>
        <p:nvPicPr>
          <p:cNvPr id="3076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08988" y="76200"/>
            <a:ext cx="631825" cy="7921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077" name="Picture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1600200"/>
            <a:ext cx="7896225" cy="441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0" y="304801"/>
            <a:ext cx="7793037" cy="1295400"/>
          </a:xfrm>
        </p:spPr>
        <p:txBody>
          <a:bodyPr/>
          <a:lstStyle/>
          <a:p>
            <a:r>
              <a:rPr lang="en-GB" sz="2400" b="1" dirty="0"/>
              <a:t>C</a:t>
            </a:r>
            <a:r>
              <a:rPr lang="en-GB" sz="2400" b="1" dirty="0" smtClean="0"/>
              <a:t>lassification</a:t>
            </a:r>
            <a:r>
              <a:rPr lang="en-GB" sz="2400" b="1" dirty="0"/>
              <a:t>: </a:t>
            </a:r>
            <a:r>
              <a:rPr lang="en-GB" sz="2400" b="1" dirty="0" smtClean="0"/>
              <a:t/>
            </a:r>
            <a:br>
              <a:rPr lang="en-GB" sz="2400" b="1" dirty="0" smtClean="0"/>
            </a:br>
            <a:r>
              <a:rPr lang="en-GB" sz="2400" b="1" dirty="0" smtClean="0"/>
              <a:t/>
            </a:r>
            <a:br>
              <a:rPr lang="en-GB" sz="2400" b="1" dirty="0" smtClean="0"/>
            </a:br>
            <a:r>
              <a:rPr lang="en-GB" sz="2400" b="1" dirty="0"/>
              <a:t>	</a:t>
            </a:r>
            <a:r>
              <a:rPr lang="en-GB" sz="2400" b="1" u="sng" dirty="0" smtClean="0"/>
              <a:t>semantic</a:t>
            </a:r>
            <a:r>
              <a:rPr lang="en-GB" sz="2400" b="1" dirty="0" smtClean="0"/>
              <a:t> </a:t>
            </a:r>
            <a:r>
              <a:rPr lang="en-GB" sz="2400" b="1" i="1" dirty="0"/>
              <a:t>versus</a:t>
            </a:r>
            <a:r>
              <a:rPr lang="en-GB" sz="2400" b="1" dirty="0"/>
              <a:t> </a:t>
            </a:r>
            <a:r>
              <a:rPr lang="en-GB" sz="2400" b="1" u="sng" dirty="0"/>
              <a:t>syntactic</a:t>
            </a:r>
            <a:r>
              <a:rPr lang="en-GB" sz="2400" b="1" dirty="0"/>
              <a:t> </a:t>
            </a:r>
            <a:r>
              <a:rPr lang="en-GB" sz="2400" b="1" dirty="0" smtClean="0"/>
              <a:t>proof methods</a:t>
            </a:r>
            <a:endParaRPr lang="en-US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4800" y="2667000"/>
            <a:ext cx="8382000" cy="3057525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08988" y="76200"/>
            <a:ext cx="631825" cy="7921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7620327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sz="2400" b="1" dirty="0"/>
              <a:t>Classification: </a:t>
            </a:r>
            <a:br>
              <a:rPr lang="en-GB" sz="2400" b="1" dirty="0"/>
            </a:br>
            <a:r>
              <a:rPr lang="en-GB" sz="2400" b="1" dirty="0"/>
              <a:t/>
            </a:r>
            <a:br>
              <a:rPr lang="en-GB" sz="2400" b="1" dirty="0"/>
            </a:br>
            <a:r>
              <a:rPr lang="en-GB" sz="2400" b="1" dirty="0"/>
              <a:t>	</a:t>
            </a:r>
            <a:r>
              <a:rPr lang="en-US" sz="2400" b="1" u="sng" dirty="0"/>
              <a:t>direct</a:t>
            </a:r>
            <a:r>
              <a:rPr lang="en-US" sz="2400" b="1" dirty="0"/>
              <a:t> </a:t>
            </a:r>
            <a:r>
              <a:rPr lang="en-US" sz="2400" b="1" i="1" dirty="0"/>
              <a:t>versus</a:t>
            </a:r>
            <a:r>
              <a:rPr lang="en-US" sz="2400" b="1" dirty="0"/>
              <a:t> </a:t>
            </a:r>
            <a:r>
              <a:rPr lang="en-US" sz="2400" b="1" u="sng" dirty="0"/>
              <a:t>refutation</a:t>
            </a:r>
            <a:r>
              <a:rPr lang="en-US" sz="2400" b="1" dirty="0"/>
              <a:t> </a:t>
            </a:r>
            <a:r>
              <a:rPr lang="en-US" sz="2400" b="1" dirty="0" smtClean="0"/>
              <a:t>proof methods</a:t>
            </a:r>
            <a:endParaRPr lang="en-US" sz="2400" dirty="0"/>
          </a:p>
        </p:txBody>
      </p:sp>
      <p:pic>
        <p:nvPicPr>
          <p:cNvPr id="5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58200" y="59038"/>
            <a:ext cx="631825" cy="7921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4799" y="2133600"/>
            <a:ext cx="8639176" cy="4191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83309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title"/>
          </p:nvPr>
        </p:nvSpPr>
        <p:spPr>
          <a:xfrm>
            <a:off x="1150938" y="533400"/>
            <a:ext cx="7793037" cy="990600"/>
          </a:xfrm>
        </p:spPr>
        <p:txBody>
          <a:bodyPr/>
          <a:lstStyle/>
          <a:p>
            <a:pPr eaLnBrk="1" hangingPunct="1"/>
            <a:r>
              <a:rPr lang="en-US" sz="3200" smtClean="0"/>
              <a:t>Semantic Tableaux Method</a:t>
            </a:r>
            <a:endParaRPr lang="ro-RO" sz="3200" smtClean="0"/>
          </a:p>
        </p:txBody>
      </p:sp>
      <p:sp>
        <p:nvSpPr>
          <p:cNvPr id="409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04800" y="1981200"/>
            <a:ext cx="8610600" cy="4114800"/>
          </a:xfrm>
        </p:spPr>
        <p:txBody>
          <a:bodyPr/>
          <a:lstStyle/>
          <a:p>
            <a:pPr eaLnBrk="1" hangingPunct="1"/>
            <a:r>
              <a:rPr lang="en-US" sz="2200" smtClean="0"/>
              <a:t>It was proposed as a proof method for classical logics by 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sz="2200" smtClean="0"/>
              <a:t>    R. Smullyan in 1968.</a:t>
            </a:r>
          </a:p>
          <a:p>
            <a:pPr eaLnBrk="1" hangingPunct="1"/>
            <a:endParaRPr lang="en-US" sz="400" smtClean="0"/>
          </a:p>
          <a:p>
            <a:pPr eaLnBrk="1" hangingPunct="1"/>
            <a:r>
              <a:rPr lang="en-US" sz="2200" smtClean="0"/>
              <a:t>Dedicated theorem provers: 3TAP, pTAP, leanTAP, Cassandra.</a:t>
            </a:r>
          </a:p>
          <a:p>
            <a:pPr eaLnBrk="1" hangingPunct="1"/>
            <a:endParaRPr lang="en-US" sz="400" smtClean="0"/>
          </a:p>
          <a:p>
            <a:pPr eaLnBrk="1" hangingPunct="1"/>
            <a:r>
              <a:rPr lang="en-US" sz="2200" smtClean="0"/>
              <a:t>It was easily adapted to </a:t>
            </a:r>
            <a:r>
              <a:rPr lang="en-US" sz="2200" i="1" smtClean="0"/>
              <a:t>nonstandard logics</a:t>
            </a:r>
            <a:r>
              <a:rPr lang="en-US" sz="2200" smtClean="0"/>
              <a:t> (modal, temporal, many-valued, non-monotonic).</a:t>
            </a:r>
          </a:p>
          <a:p>
            <a:pPr eaLnBrk="1" hangingPunct="1"/>
            <a:endParaRPr lang="en-US" sz="400" smtClean="0"/>
          </a:p>
          <a:p>
            <a:pPr eaLnBrk="1" hangingPunct="1"/>
            <a:r>
              <a:rPr lang="en-US" sz="2200" smtClean="0"/>
              <a:t>It is based on semantic considerations =&gt; </a:t>
            </a:r>
            <a:r>
              <a:rPr lang="en-US" sz="2200" b="1" i="1" smtClean="0"/>
              <a:t>semantic method.</a:t>
            </a:r>
          </a:p>
          <a:p>
            <a:pPr eaLnBrk="1" hangingPunct="1"/>
            <a:endParaRPr lang="en-US" sz="400" b="1" i="1" smtClean="0"/>
          </a:p>
          <a:p>
            <a:pPr eaLnBrk="1" hangingPunct="1"/>
            <a:r>
              <a:rPr lang="en-GB" sz="2200" smtClean="0"/>
              <a:t>Its basic aim is to decide </a:t>
            </a:r>
            <a:r>
              <a:rPr lang="en-GB" sz="2200" b="1" i="1" smtClean="0"/>
              <a:t>consistency</a:t>
            </a:r>
            <a:r>
              <a:rPr lang="en-GB" sz="2200" smtClean="0"/>
              <a:t>  and to find all the models of a formula by decomposing the formula in subformulas.</a:t>
            </a:r>
          </a:p>
          <a:p>
            <a:pPr eaLnBrk="1" hangingPunct="1"/>
            <a:endParaRPr lang="en-GB" sz="400" smtClean="0"/>
          </a:p>
          <a:p>
            <a:pPr eaLnBrk="1" hangingPunct="1"/>
            <a:r>
              <a:rPr lang="en-GB" sz="2200" smtClean="0"/>
              <a:t>The </a:t>
            </a:r>
            <a:r>
              <a:rPr lang="en-GB" sz="2200" b="1" i="1" smtClean="0"/>
              <a:t>validity</a:t>
            </a:r>
            <a:r>
              <a:rPr lang="en-GB" sz="2200" smtClean="0"/>
              <a:t> of a formula </a:t>
            </a:r>
            <a:r>
              <a:rPr lang="en-GB" sz="2200" b="1" smtClean="0"/>
              <a:t>is proved by contradiction</a:t>
            </a:r>
            <a:r>
              <a:rPr lang="en-GB" sz="2200" smtClean="0"/>
              <a:t>=&gt; 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GB" sz="2200" b="1" i="1" smtClean="0"/>
              <a:t>                                                              </a:t>
            </a:r>
            <a:r>
              <a:rPr lang="en-GB" sz="2200" smtClean="0"/>
              <a:t>=&gt;</a:t>
            </a:r>
            <a:r>
              <a:rPr lang="en-GB" sz="2200" b="1" i="1" smtClean="0"/>
              <a:t> refutation method.</a:t>
            </a:r>
          </a:p>
          <a:p>
            <a:pPr eaLnBrk="1" hangingPunct="1">
              <a:buFont typeface="Wingdings" panose="05000000000000000000" pitchFamily="2" charset="2"/>
              <a:buNone/>
            </a:pPr>
            <a:endParaRPr lang="ro-RO" sz="2200" b="1" i="1" smtClean="0"/>
          </a:p>
        </p:txBody>
      </p:sp>
      <p:pic>
        <p:nvPicPr>
          <p:cNvPr id="4100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08988" y="76200"/>
            <a:ext cx="631825" cy="7921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title"/>
          </p:nvPr>
        </p:nvSpPr>
        <p:spPr>
          <a:xfrm>
            <a:off x="879475" y="152400"/>
            <a:ext cx="8610600" cy="700088"/>
          </a:xfrm>
        </p:spPr>
        <p:txBody>
          <a:bodyPr/>
          <a:lstStyle/>
          <a:p>
            <a:pPr eaLnBrk="1" hangingPunct="1"/>
            <a:r>
              <a:rPr lang="en-US" sz="2400" b="1" smtClean="0"/>
              <a:t>Decomposition rules for </a:t>
            </a:r>
            <a:r>
              <a:rPr lang="en-US" sz="2400" b="1" i="1" smtClean="0"/>
              <a:t>propositional formulas</a:t>
            </a:r>
            <a:endParaRPr lang="ro-RO" sz="2400" b="1" i="1" smtClean="0"/>
          </a:p>
        </p:txBody>
      </p:sp>
      <p:sp>
        <p:nvSpPr>
          <p:cNvPr id="512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endParaRPr lang="en-US" smtClean="0"/>
          </a:p>
        </p:txBody>
      </p:sp>
      <p:pic>
        <p:nvPicPr>
          <p:cNvPr id="5124" name="Picture 6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8525" y="1157288"/>
            <a:ext cx="8001000" cy="5076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125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5875"/>
            <a:ext cx="631825" cy="7921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title"/>
          </p:nvPr>
        </p:nvSpPr>
        <p:spPr>
          <a:xfrm>
            <a:off x="228600" y="214313"/>
            <a:ext cx="8686800" cy="852487"/>
          </a:xfrm>
        </p:spPr>
        <p:txBody>
          <a:bodyPr/>
          <a:lstStyle/>
          <a:p>
            <a:pPr eaLnBrk="1" hangingPunct="1"/>
            <a:r>
              <a:rPr lang="en-US" sz="2800" b="1" smtClean="0"/>
              <a:t>    Decomposition rules for </a:t>
            </a:r>
            <a:r>
              <a:rPr lang="en-US" sz="2800" b="1" i="1" smtClean="0"/>
              <a:t>predicate formulas</a:t>
            </a:r>
            <a:endParaRPr lang="ro-RO" sz="2800" b="1" i="1" smtClean="0"/>
          </a:p>
        </p:txBody>
      </p:sp>
      <p:sp>
        <p:nvSpPr>
          <p:cNvPr id="614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endParaRPr lang="en-US" smtClean="0"/>
          </a:p>
        </p:txBody>
      </p:sp>
      <p:pic>
        <p:nvPicPr>
          <p:cNvPr id="6148" name="Picture 7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4363" y="1371600"/>
            <a:ext cx="8153400" cy="495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149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5875"/>
            <a:ext cx="631825" cy="7921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 noChangeArrowheads="1"/>
          </p:cNvSpPr>
          <p:nvPr>
            <p:ph type="title"/>
          </p:nvPr>
        </p:nvSpPr>
        <p:spPr>
          <a:xfrm>
            <a:off x="914400" y="214313"/>
            <a:ext cx="8029575" cy="1157287"/>
          </a:xfrm>
        </p:spPr>
        <p:txBody>
          <a:bodyPr/>
          <a:lstStyle/>
          <a:p>
            <a:pPr marL="838200" indent="-838200" eaLnBrk="1" hangingPunct="1"/>
            <a:r>
              <a:rPr lang="en-GB" sz="3200" b="1" smtClean="0"/>
              <a:t>Construction of a semantic tableau</a:t>
            </a:r>
            <a:endParaRPr lang="ro-RO" sz="3200" b="1" smtClean="0"/>
          </a:p>
        </p:txBody>
      </p:sp>
      <p:sp>
        <p:nvSpPr>
          <p:cNvPr id="717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0" y="2057400"/>
            <a:ext cx="8610600" cy="4495800"/>
          </a:xfrm>
        </p:spPr>
        <p:txBody>
          <a:bodyPr/>
          <a:lstStyle/>
          <a:p>
            <a:pPr eaLnBrk="1" hangingPunct="1">
              <a:buFont typeface="Wingdings" panose="05000000000000000000" pitchFamily="2" charset="2"/>
              <a:buNone/>
            </a:pPr>
            <a:r>
              <a:rPr lang="en-GB" smtClean="0"/>
              <a:t>   </a:t>
            </a:r>
            <a:endParaRPr lang="ro-RO" smtClean="0"/>
          </a:p>
        </p:txBody>
      </p:sp>
      <p:pic>
        <p:nvPicPr>
          <p:cNvPr id="7172" name="Picture 6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5800" y="1905000"/>
            <a:ext cx="7924800" cy="441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173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0" y="76200"/>
            <a:ext cx="631825" cy="7921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title"/>
          </p:nvPr>
        </p:nvSpPr>
        <p:spPr>
          <a:xfrm>
            <a:off x="1150938" y="214313"/>
            <a:ext cx="7793037" cy="623887"/>
          </a:xfrm>
        </p:spPr>
        <p:txBody>
          <a:bodyPr/>
          <a:lstStyle/>
          <a:p>
            <a:pPr eaLnBrk="1" hangingPunct="1"/>
            <a:r>
              <a:rPr lang="en-GB" sz="2200" b="1" u="sng" smtClean="0"/>
              <a:t>Definitions</a:t>
            </a:r>
            <a:r>
              <a:rPr lang="ro-RO" sz="2200" u="sng" smtClean="0"/>
              <a:t> </a:t>
            </a:r>
          </a:p>
        </p:txBody>
      </p:sp>
      <p:sp>
        <p:nvSpPr>
          <p:cNvPr id="819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endParaRPr lang="en-US" smtClean="0"/>
          </a:p>
        </p:txBody>
      </p:sp>
      <p:pic>
        <p:nvPicPr>
          <p:cNvPr id="8196" name="Picture 6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00" y="990600"/>
            <a:ext cx="8077200" cy="4972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197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58200" y="4763"/>
            <a:ext cx="631825" cy="7921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/>
          <p:cNvSpPr>
            <a:spLocks noGrp="1" noChangeArrowheads="1"/>
          </p:cNvSpPr>
          <p:nvPr>
            <p:ph type="title"/>
          </p:nvPr>
        </p:nvSpPr>
        <p:spPr>
          <a:xfrm>
            <a:off x="1150938" y="214313"/>
            <a:ext cx="7793037" cy="700087"/>
          </a:xfrm>
        </p:spPr>
        <p:txBody>
          <a:bodyPr/>
          <a:lstStyle/>
          <a:p>
            <a:pPr eaLnBrk="1" hangingPunct="1"/>
            <a:r>
              <a:rPr lang="en-US" sz="2400" b="1" u="sng" smtClean="0"/>
              <a:t>Models of a formula</a:t>
            </a:r>
            <a:endParaRPr lang="ro-RO" sz="2400" b="1" u="sng" smtClean="0"/>
          </a:p>
        </p:txBody>
      </p:sp>
      <p:sp>
        <p:nvSpPr>
          <p:cNvPr id="921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endParaRPr lang="en-US" smtClean="0"/>
          </a:p>
        </p:txBody>
      </p:sp>
      <p:pic>
        <p:nvPicPr>
          <p:cNvPr id="9220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5800" y="990600"/>
            <a:ext cx="8153400" cy="5257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221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58200" y="47625"/>
            <a:ext cx="631825" cy="7921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/>
          <p:cNvSpPr>
            <a:spLocks noGrp="1" noChangeArrowheads="1"/>
          </p:cNvSpPr>
          <p:nvPr>
            <p:ph type="title"/>
          </p:nvPr>
        </p:nvSpPr>
        <p:spPr>
          <a:xfrm>
            <a:off x="990600" y="1003300"/>
            <a:ext cx="8534400" cy="762000"/>
          </a:xfrm>
        </p:spPr>
        <p:txBody>
          <a:bodyPr/>
          <a:lstStyle/>
          <a:p>
            <a:pPr eaLnBrk="1" hangingPunct="1"/>
            <a:r>
              <a:rPr lang="en-US" sz="2400" b="1" u="sng" dirty="0" smtClean="0"/>
              <a:t>Theorems </a:t>
            </a:r>
            <a:br>
              <a:rPr lang="en-US" sz="2400" b="1" u="sng" dirty="0" smtClean="0"/>
            </a:br>
            <a:r>
              <a:rPr lang="en-US" sz="2400" b="1" u="sng" dirty="0" smtClean="0"/>
              <a:t/>
            </a:r>
            <a:br>
              <a:rPr lang="en-US" sz="2400" b="1" u="sng" dirty="0" smtClean="0"/>
            </a:br>
            <a:r>
              <a:rPr lang="en-US" sz="2000" b="1" dirty="0" smtClean="0"/>
              <a:t>Semantic tableaux method – a </a:t>
            </a:r>
            <a:r>
              <a:rPr lang="en-US" sz="2000" b="1" i="1" dirty="0" smtClean="0"/>
              <a:t>refutation</a:t>
            </a:r>
            <a:r>
              <a:rPr lang="en-US" sz="2000" b="1" dirty="0" smtClean="0"/>
              <a:t> proof method</a:t>
            </a:r>
            <a:endParaRPr lang="ro-RO" sz="2000" b="1" dirty="0" smtClean="0"/>
          </a:p>
        </p:txBody>
      </p:sp>
      <p:sp>
        <p:nvSpPr>
          <p:cNvPr id="1024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endParaRPr lang="en-US" smtClean="0"/>
          </a:p>
        </p:txBody>
      </p:sp>
      <p:pic>
        <p:nvPicPr>
          <p:cNvPr id="10245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23288" y="30163"/>
            <a:ext cx="631825" cy="793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7446" y="1981200"/>
            <a:ext cx="7815842" cy="4151313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dirty="0" smtClean="0"/>
              <a:t>Predicate logic - undecidable</a:t>
            </a:r>
            <a:endParaRPr lang="en-US" sz="3200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3400" y="1860550"/>
            <a:ext cx="8201891" cy="2438400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6318" y="4475911"/>
            <a:ext cx="8392881" cy="1924889"/>
          </a:xfrm>
          <a:prstGeom prst="rect">
            <a:avLst/>
          </a:prstGeom>
        </p:spPr>
      </p:pic>
      <p:pic>
        <p:nvPicPr>
          <p:cNvPr id="5" name="Picture 3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23288" y="30163"/>
            <a:ext cx="631825" cy="793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043285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0" y="152400"/>
            <a:ext cx="6781800" cy="6480578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0461" y="152400"/>
            <a:ext cx="1276350" cy="409575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58200" y="4763"/>
            <a:ext cx="631825" cy="7921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7373100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400" dirty="0" smtClean="0"/>
              <a:t>Example 2</a:t>
            </a:r>
            <a:endParaRPr lang="en-US" sz="2400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" y="858838"/>
            <a:ext cx="8553450" cy="4991100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58200" y="4763"/>
            <a:ext cx="631825" cy="7921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8600" y="152400"/>
            <a:ext cx="1778000" cy="381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28902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152400"/>
            <a:ext cx="1200150" cy="257175"/>
          </a:xfrm>
          <a:prstGeom prst="rect">
            <a:avLst/>
          </a:prstGeom>
        </p:spPr>
      </p:pic>
      <p:pic>
        <p:nvPicPr>
          <p:cNvPr id="6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58200" y="4763"/>
            <a:ext cx="631825" cy="7921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09712" y="152400"/>
            <a:ext cx="6338888" cy="66092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27257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/>
          <p:cNvSpPr>
            <a:spLocks noGrp="1" noChangeArrowheads="1"/>
          </p:cNvSpPr>
          <p:nvPr>
            <p:ph type="title"/>
          </p:nvPr>
        </p:nvSpPr>
        <p:spPr>
          <a:xfrm>
            <a:off x="949325" y="803275"/>
            <a:ext cx="8181975" cy="838200"/>
          </a:xfrm>
        </p:spPr>
        <p:txBody>
          <a:bodyPr/>
          <a:lstStyle/>
          <a:p>
            <a:pPr eaLnBrk="1" hangingPunct="1"/>
            <a:r>
              <a:rPr lang="en-US" sz="2200" b="1" u="sng" smtClean="0"/>
              <a:t>Example 3</a:t>
            </a:r>
            <a:r>
              <a:rPr lang="en-US" sz="2200" smtClean="0"/>
              <a:t>. </a:t>
            </a:r>
            <a:br>
              <a:rPr lang="en-US" sz="2200" smtClean="0"/>
            </a:br>
            <a:r>
              <a:rPr lang="en-US" sz="2200" smtClean="0"/>
              <a:t>Prove the validity of</a:t>
            </a:r>
            <a:br>
              <a:rPr lang="en-US" sz="2200" smtClean="0"/>
            </a:br>
            <a:endParaRPr lang="ro-RO" sz="2200" smtClean="0"/>
          </a:p>
        </p:txBody>
      </p:sp>
      <p:pic>
        <p:nvPicPr>
          <p:cNvPr id="12291" name="Picture 6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0000" y="914400"/>
            <a:ext cx="3124200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00200" y="1381125"/>
            <a:ext cx="5543550" cy="60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Content Placeholder 5"/>
          <p:cNvPicPr>
            <a:picLocks noGrp="1" noChangeAspect="1"/>
          </p:cNvPicPr>
          <p:nvPr>
            <p:ph idx="1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759075" y="3067050"/>
            <a:ext cx="3676650" cy="952500"/>
          </a:xfr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16200" y="2073275"/>
            <a:ext cx="3962400" cy="962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39988" y="4070350"/>
            <a:ext cx="4314825" cy="733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90788" y="4495800"/>
            <a:ext cx="4214812" cy="719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28713" y="5249863"/>
            <a:ext cx="6486525" cy="1028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2298" name="Picture 3"/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05800" y="122238"/>
            <a:ext cx="631825" cy="7921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" name="Picture 1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794626" y="1004094"/>
            <a:ext cx="1143000" cy="1501752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848600" y="2819400"/>
            <a:ext cx="1181100" cy="1065212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290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4030" y="76200"/>
            <a:ext cx="7793037" cy="430917"/>
          </a:xfrm>
        </p:spPr>
        <p:txBody>
          <a:bodyPr/>
          <a:lstStyle/>
          <a:p>
            <a:r>
              <a:rPr lang="en-US" sz="2000" b="1" u="sng" dirty="0"/>
              <a:t>Example 4</a:t>
            </a:r>
            <a:r>
              <a:rPr lang="en-US" sz="2000" b="1" dirty="0"/>
              <a:t>.</a:t>
            </a:r>
            <a:r>
              <a:rPr lang="en-US" sz="2000" dirty="0"/>
              <a:t> Build two different semantic tableaux for the formula: 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4030" y="944100"/>
            <a:ext cx="4086225" cy="5743575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76800" y="958477"/>
            <a:ext cx="3790950" cy="5686425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70773" y="497368"/>
            <a:ext cx="4019550" cy="314325"/>
          </a:xfrm>
          <a:prstGeom prst="rect">
            <a:avLst/>
          </a:prstGeom>
        </p:spPr>
      </p:pic>
      <p:pic>
        <p:nvPicPr>
          <p:cNvPr id="7" name="Picture 3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12175" y="17463"/>
            <a:ext cx="631825" cy="7921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3112815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>
          <a:xfrm>
            <a:off x="1150938" y="214313"/>
            <a:ext cx="7793037" cy="623887"/>
          </a:xfrm>
        </p:spPr>
        <p:txBody>
          <a:bodyPr/>
          <a:lstStyle/>
          <a:p>
            <a:pPr eaLnBrk="1" hangingPunct="1"/>
            <a:r>
              <a:rPr lang="en-US" sz="2400" u="sng" smtClean="0"/>
              <a:t>Example 5:</a:t>
            </a:r>
            <a:endParaRPr lang="ro-RO" sz="2400" u="sng" smtClean="0"/>
          </a:p>
        </p:txBody>
      </p:sp>
      <p:sp>
        <p:nvSpPr>
          <p:cNvPr id="1433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endParaRPr lang="en-US" smtClean="0"/>
          </a:p>
        </p:txBody>
      </p:sp>
      <p:pic>
        <p:nvPicPr>
          <p:cNvPr id="14340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0600" y="1066800"/>
            <a:ext cx="7391400" cy="5029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4341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12175" y="11113"/>
            <a:ext cx="631825" cy="7921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6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4051" y="5842386"/>
            <a:ext cx="6324599" cy="86743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52600" y="76200"/>
            <a:ext cx="6838950" cy="333375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67050" y="409575"/>
            <a:ext cx="5876925" cy="1013263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76601" y="1428570"/>
            <a:ext cx="4724400" cy="962541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191001" y="2476320"/>
            <a:ext cx="4114800" cy="544242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962400" y="3020562"/>
            <a:ext cx="5181600" cy="1000890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656351" y="3982786"/>
            <a:ext cx="5472113" cy="859044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819400" y="4829123"/>
            <a:ext cx="4343400" cy="943819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31460" y="1828800"/>
            <a:ext cx="1928078" cy="3251268"/>
          </a:xfrm>
          <a:prstGeom prst="rect">
            <a:avLst/>
          </a:prstGeom>
        </p:spPr>
      </p:pic>
      <p:pic>
        <p:nvPicPr>
          <p:cNvPr id="11" name="Picture 3"/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2700"/>
            <a:ext cx="631825" cy="793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6675640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/>
          <p:cNvSpPr>
            <a:spLocks noGrp="1" noChangeArrowheads="1"/>
          </p:cNvSpPr>
          <p:nvPr>
            <p:ph type="title"/>
          </p:nvPr>
        </p:nvSpPr>
        <p:spPr>
          <a:xfrm>
            <a:off x="990600" y="312738"/>
            <a:ext cx="7793038" cy="1462087"/>
          </a:xfrm>
        </p:spPr>
        <p:txBody>
          <a:bodyPr/>
          <a:lstStyle/>
          <a:p>
            <a:pPr eaLnBrk="1" hangingPunct="1"/>
            <a:endParaRPr lang="en-US" smtClean="0"/>
          </a:p>
        </p:txBody>
      </p:sp>
      <p:sp>
        <p:nvSpPr>
          <p:cNvPr id="1638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endParaRPr lang="en-US" dirty="0" smtClean="0"/>
          </a:p>
        </p:txBody>
      </p:sp>
      <p:pic>
        <p:nvPicPr>
          <p:cNvPr id="16388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23950" y="533400"/>
            <a:ext cx="7010400" cy="990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6389" name="Picture 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0600" y="1524000"/>
            <a:ext cx="7162800" cy="4724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6390" name="Picture 3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12175" y="68263"/>
            <a:ext cx="631825" cy="7921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endParaRPr lang="en-US" smtClean="0"/>
          </a:p>
        </p:txBody>
      </p:sp>
      <p:sp>
        <p:nvSpPr>
          <p:cNvPr id="1741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endParaRPr lang="en-US" smtClean="0"/>
          </a:p>
        </p:txBody>
      </p:sp>
      <p:pic>
        <p:nvPicPr>
          <p:cNvPr id="17412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800" y="562769"/>
            <a:ext cx="7010400" cy="990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7413" name="Picture 6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95400" y="1724025"/>
            <a:ext cx="7162800" cy="4448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7414" name="Picture 3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12175" y="0"/>
            <a:ext cx="631825" cy="7921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14"/>
          <p:cNvSpPr>
            <a:spLocks noGrp="1" noChangeArrowheads="1"/>
          </p:cNvSpPr>
          <p:nvPr>
            <p:ph type="title"/>
          </p:nvPr>
        </p:nvSpPr>
        <p:spPr>
          <a:xfrm>
            <a:off x="533400" y="214313"/>
            <a:ext cx="8410575" cy="852487"/>
          </a:xfrm>
        </p:spPr>
        <p:txBody>
          <a:bodyPr/>
          <a:lstStyle/>
          <a:p>
            <a:pPr eaLnBrk="1" hangingPunct="1"/>
            <a:r>
              <a:rPr lang="en-US" sz="2400" b="1" u="sng" smtClean="0"/>
              <a:t>Example 6</a:t>
            </a:r>
            <a:r>
              <a:rPr lang="en-US" sz="2400" smtClean="0"/>
              <a:t>: </a:t>
            </a:r>
            <a:r>
              <a:rPr lang="en-US" sz="2200" smtClean="0"/>
              <a:t>Prove the non-validity of</a:t>
            </a:r>
            <a:r>
              <a:rPr lang="en-US" smtClean="0"/>
              <a:t> </a:t>
            </a:r>
            <a:endParaRPr lang="ro-RO" smtClean="0"/>
          </a:p>
        </p:txBody>
      </p:sp>
      <p:graphicFrame>
        <p:nvGraphicFramePr>
          <p:cNvPr id="63516" name="Group 28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947464077"/>
              </p:ext>
            </p:extLst>
          </p:nvPr>
        </p:nvGraphicFramePr>
        <p:xfrm>
          <a:off x="228600" y="1143001"/>
          <a:ext cx="8763000" cy="5562599"/>
        </p:xfrm>
        <a:graphic>
          <a:graphicData uri="http://schemas.openxmlformats.org/drawingml/2006/table">
            <a:tbl>
              <a:tblPr/>
              <a:tblGrid>
                <a:gridCol w="4419600"/>
                <a:gridCol w="4343400"/>
              </a:tblGrid>
              <a:tr h="5562599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en-US" sz="2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en-US" sz="2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pic>
        <p:nvPicPr>
          <p:cNvPr id="18443" name="Picture 17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800" y="1371600"/>
            <a:ext cx="4249711" cy="4800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8444" name="Picture 27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86400" y="609600"/>
            <a:ext cx="2362200" cy="3444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8445" name="Picture 29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00599" y="1462087"/>
            <a:ext cx="4143375" cy="3962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" name="Picture 3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23288" y="30163"/>
            <a:ext cx="631825" cy="793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Blends">
  <a:themeElements>
    <a:clrScheme name="Blends 3">
      <a:dk1>
        <a:srgbClr val="000000"/>
      </a:dk1>
      <a:lt1>
        <a:srgbClr val="FFFFFF"/>
      </a:lt1>
      <a:dk2>
        <a:srgbClr val="333399"/>
      </a:dk2>
      <a:lt2>
        <a:srgbClr val="1C1C1C"/>
      </a:lt2>
      <a:accent1>
        <a:srgbClr val="00E4A8"/>
      </a:accent1>
      <a:accent2>
        <a:srgbClr val="FFCF01"/>
      </a:accent2>
      <a:accent3>
        <a:srgbClr val="FFFFFF"/>
      </a:accent3>
      <a:accent4>
        <a:srgbClr val="000000"/>
      </a:accent4>
      <a:accent5>
        <a:srgbClr val="AAEFD1"/>
      </a:accent5>
      <a:accent6>
        <a:srgbClr val="E7BB01"/>
      </a:accent6>
      <a:hlink>
        <a:srgbClr val="FF0000"/>
      </a:hlink>
      <a:folHlink>
        <a:srgbClr val="3333CC"/>
      </a:folHlink>
    </a:clrScheme>
    <a:fontScheme name="Blends">
      <a:majorFont>
        <a:latin typeface="Tahoma"/>
        <a:ea typeface=""/>
        <a:cs typeface=""/>
      </a:majorFont>
      <a:minorFont>
        <a:latin typeface="Tahom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Blends 1">
        <a:dk1>
          <a:srgbClr val="969696"/>
        </a:dk1>
        <a:lt1>
          <a:srgbClr val="FFFFFF"/>
        </a:lt1>
        <a:dk2>
          <a:srgbClr val="000000"/>
        </a:dk2>
        <a:lt2>
          <a:srgbClr val="DDDDDD"/>
        </a:lt2>
        <a:accent1>
          <a:srgbClr val="00E4A8"/>
        </a:accent1>
        <a:accent2>
          <a:srgbClr val="3333CC"/>
        </a:accent2>
        <a:accent3>
          <a:srgbClr val="AAAAAA"/>
        </a:accent3>
        <a:accent4>
          <a:srgbClr val="DADADA"/>
        </a:accent4>
        <a:accent5>
          <a:srgbClr val="AAEFD1"/>
        </a:accent5>
        <a:accent6>
          <a:srgbClr val="2D2DB9"/>
        </a:accent6>
        <a:hlink>
          <a:srgbClr val="FF5050"/>
        </a:hlink>
        <a:folHlink>
          <a:srgbClr val="FFCF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ends 2">
        <a:dk1>
          <a:srgbClr val="000094"/>
        </a:dk1>
        <a:lt1>
          <a:srgbClr val="FFFFFF"/>
        </a:lt1>
        <a:dk2>
          <a:srgbClr val="0000CC"/>
        </a:dk2>
        <a:lt2>
          <a:srgbClr val="FFFFCC"/>
        </a:lt2>
        <a:accent1>
          <a:srgbClr val="3193FF"/>
        </a:accent1>
        <a:accent2>
          <a:srgbClr val="9900FF"/>
        </a:accent2>
        <a:accent3>
          <a:srgbClr val="AAAAE2"/>
        </a:accent3>
        <a:accent4>
          <a:srgbClr val="DADADA"/>
        </a:accent4>
        <a:accent5>
          <a:srgbClr val="ADC8FF"/>
        </a:accent5>
        <a:accent6>
          <a:srgbClr val="8A00E7"/>
        </a:accent6>
        <a:hlink>
          <a:srgbClr val="FF3399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ends 3">
        <a:dk1>
          <a:srgbClr val="000000"/>
        </a:dk1>
        <a:lt1>
          <a:srgbClr val="FFFFFF"/>
        </a:lt1>
        <a:dk2>
          <a:srgbClr val="333399"/>
        </a:dk2>
        <a:lt2>
          <a:srgbClr val="1C1C1C"/>
        </a:lt2>
        <a:accent1>
          <a:srgbClr val="00E4A8"/>
        </a:accent1>
        <a:accent2>
          <a:srgbClr val="FFCF01"/>
        </a:accent2>
        <a:accent3>
          <a:srgbClr val="FFFFFF"/>
        </a:accent3>
        <a:accent4>
          <a:srgbClr val="000000"/>
        </a:accent4>
        <a:accent5>
          <a:srgbClr val="AAEFD1"/>
        </a:accent5>
        <a:accent6>
          <a:srgbClr val="E7BB01"/>
        </a:accent6>
        <a:hlink>
          <a:srgbClr val="FF0000"/>
        </a:hlink>
        <a:folHlink>
          <a:srgbClr val="3333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4">
        <a:dk1>
          <a:srgbClr val="000000"/>
        </a:dk1>
        <a:lt1>
          <a:srgbClr val="FFFFFF"/>
        </a:lt1>
        <a:dk2>
          <a:srgbClr val="515F7B"/>
        </a:dk2>
        <a:lt2>
          <a:srgbClr val="808080"/>
        </a:lt2>
        <a:accent1>
          <a:srgbClr val="9FCAD3"/>
        </a:accent1>
        <a:accent2>
          <a:srgbClr val="C0C0C0"/>
        </a:accent2>
        <a:accent3>
          <a:srgbClr val="FFFFFF"/>
        </a:accent3>
        <a:accent4>
          <a:srgbClr val="000000"/>
        </a:accent4>
        <a:accent5>
          <a:srgbClr val="CDE1E6"/>
        </a:accent5>
        <a:accent6>
          <a:srgbClr val="AEAEAE"/>
        </a:accent6>
        <a:hlink>
          <a:srgbClr val="91AFBF"/>
        </a:hlink>
        <a:folHlink>
          <a:srgbClr val="ECEAA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5">
        <a:dk1>
          <a:srgbClr val="000000"/>
        </a:dk1>
        <a:lt1>
          <a:srgbClr val="FFFFFF"/>
        </a:lt1>
        <a:dk2>
          <a:srgbClr val="000066"/>
        </a:dk2>
        <a:lt2>
          <a:srgbClr val="333333"/>
        </a:lt2>
        <a:accent1>
          <a:srgbClr val="C4709A"/>
        </a:accent1>
        <a:accent2>
          <a:srgbClr val="4B4EB5"/>
        </a:accent2>
        <a:accent3>
          <a:srgbClr val="FFFFFF"/>
        </a:accent3>
        <a:accent4>
          <a:srgbClr val="000000"/>
        </a:accent4>
        <a:accent5>
          <a:srgbClr val="DEBBCA"/>
        </a:accent5>
        <a:accent6>
          <a:srgbClr val="4346A4"/>
        </a:accent6>
        <a:hlink>
          <a:srgbClr val="C481CF"/>
        </a:hlink>
        <a:folHlink>
          <a:srgbClr val="76B74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6">
        <a:dk1>
          <a:srgbClr val="000000"/>
        </a:dk1>
        <a:lt1>
          <a:srgbClr val="FFFFFF"/>
        </a:lt1>
        <a:dk2>
          <a:srgbClr val="6A4076"/>
        </a:dk2>
        <a:lt2>
          <a:srgbClr val="969696"/>
        </a:lt2>
        <a:accent1>
          <a:srgbClr val="DBA9C2"/>
        </a:accent1>
        <a:accent2>
          <a:srgbClr val="E1BF91"/>
        </a:accent2>
        <a:accent3>
          <a:srgbClr val="FFFFFF"/>
        </a:accent3>
        <a:accent4>
          <a:srgbClr val="000000"/>
        </a:accent4>
        <a:accent5>
          <a:srgbClr val="EAD1DD"/>
        </a:accent5>
        <a:accent6>
          <a:srgbClr val="CCAD83"/>
        </a:accent6>
        <a:hlink>
          <a:srgbClr val="B3CE82"/>
        </a:hlink>
        <a:folHlink>
          <a:srgbClr val="B8AD48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F9032A480F42E647B8D9BDED97784600" ma:contentTypeVersion="2" ma:contentTypeDescription="Create a new document." ma:contentTypeScope="" ma:versionID="1475f87b00b7bf3f42ecc9bff1d73a17">
  <xsd:schema xmlns:xsd="http://www.w3.org/2001/XMLSchema" xmlns:xs="http://www.w3.org/2001/XMLSchema" xmlns:p="http://schemas.microsoft.com/office/2006/metadata/properties" xmlns:ns2="767e4319-1f02-4048-8410-bdb9c4501901" targetNamespace="http://schemas.microsoft.com/office/2006/metadata/properties" ma:root="true" ma:fieldsID="ab2905937831d3df4f33c49b7fb7e84f" ns2:_="">
    <xsd:import namespace="767e4319-1f02-4048-8410-bdb9c450190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67e4319-1f02-4048-8410-bdb9c4501901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3AD37CA8-3B6A-4EF8-80F5-816562D3BA43}"/>
</file>

<file path=customXml/itemProps2.xml><?xml version="1.0" encoding="utf-8"?>
<ds:datastoreItem xmlns:ds="http://schemas.openxmlformats.org/officeDocument/2006/customXml" ds:itemID="{0DEFC764-FF87-4BFE-B9D2-8CEED5371CE1}"/>
</file>

<file path=customXml/itemProps3.xml><?xml version="1.0" encoding="utf-8"?>
<ds:datastoreItem xmlns:ds="http://schemas.openxmlformats.org/officeDocument/2006/customXml" ds:itemID="{6B7C7FB7-1D4A-4498-AD40-C18858A8CECB}"/>
</file>

<file path=docProps/app.xml><?xml version="1.0" encoding="utf-8"?>
<Properties xmlns="http://schemas.openxmlformats.org/officeDocument/2006/extended-properties" xmlns:vt="http://schemas.openxmlformats.org/officeDocument/2006/docPropsVTypes">
  <Template>Blends</Template>
  <TotalTime>1225</TotalTime>
  <Words>157</Words>
  <Application>Microsoft Office PowerPoint</Application>
  <PresentationFormat>On-screen Show (4:3)</PresentationFormat>
  <Paragraphs>30</Paragraphs>
  <Slides>21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4" baseType="lpstr">
      <vt:lpstr>Tahoma</vt:lpstr>
      <vt:lpstr>Wingdings</vt:lpstr>
      <vt:lpstr>Blends</vt:lpstr>
      <vt:lpstr>DECISION PROBLEMS      IN PROPOSITIONAL/PREDICATE LOGIC</vt:lpstr>
      <vt:lpstr>Classification:    semantic versus syntactic proof methods</vt:lpstr>
      <vt:lpstr>Classification:    direct versus refutation proof methods</vt:lpstr>
      <vt:lpstr>Semantic Tableaux Method</vt:lpstr>
      <vt:lpstr>Decomposition rules for propositional formulas</vt:lpstr>
      <vt:lpstr>    Decomposition rules for predicate formulas</vt:lpstr>
      <vt:lpstr>Construction of a semantic tableau</vt:lpstr>
      <vt:lpstr>Definitions </vt:lpstr>
      <vt:lpstr>Models of a formula</vt:lpstr>
      <vt:lpstr>Theorems   Semantic tableaux method – a refutation proof method</vt:lpstr>
      <vt:lpstr>Predicate logic - undecidable</vt:lpstr>
      <vt:lpstr>PowerPoint Presentation</vt:lpstr>
      <vt:lpstr>Example 2</vt:lpstr>
      <vt:lpstr>PowerPoint Presentation</vt:lpstr>
      <vt:lpstr>Example 3.  Prove the validity of </vt:lpstr>
      <vt:lpstr>Example 4. Build two different semantic tableaux for the formula: </vt:lpstr>
      <vt:lpstr>Example 5:</vt:lpstr>
      <vt:lpstr>PowerPoint Presentation</vt:lpstr>
      <vt:lpstr>PowerPoint Presentation</vt:lpstr>
      <vt:lpstr>PowerPoint Presentation</vt:lpstr>
      <vt:lpstr>Example 6: Prove the non-validity of </vt:lpstr>
    </vt:vector>
  </TitlesOfParts>
  <Company>Microsoft Corporation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Semantic Tableaux Method</dc:title>
  <dc:creator>Iulian Lupea</dc:creator>
  <cp:lastModifiedBy>MIHAELA-ANA LUPEA</cp:lastModifiedBy>
  <cp:revision>67</cp:revision>
  <dcterms:created xsi:type="dcterms:W3CDTF">2017-11-03T20:27:27Z</dcterms:created>
  <dcterms:modified xsi:type="dcterms:W3CDTF">2020-11-04T20:50:02Z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0x010100F9032A480F42E647B8D9BDED97784600</vt:lpwstr>
  </property>
</Properties>
</file>