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5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9" r:id="rId30"/>
    <p:sldId id="290" r:id="rId31"/>
    <p:sldId id="291" r:id="rId32"/>
    <p:sldId id="292" r:id="rId33"/>
    <p:sldId id="288" r:id="rId34"/>
    <p:sldId id="286" r:id="rId35"/>
    <p:sldId id="287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4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772F4-4470-4F12-8EB0-CCCF068C48FB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A77D449-C9D4-4F0E-8FA8-6B61D5A064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EA5DF0C-4168-4EDF-B065-B46058E47B59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2DB96C-544E-4AB2-9B64-C60ABB81D2C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85F6-5D4B-4D63-8639-84BB0226843A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B9D0BF4-C982-4736-B75F-243D30188F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7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FFF8D-BA65-4C1F-AAB8-599F6E744500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122E5-0276-4C3A-89CF-88B780241A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447A6-2078-4B89-A4F4-BA917A747BE9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5CA82-AF7D-4E9A-A5F7-E63BEBAA1B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E2B79A5-3329-441C-AE01-D4EB813E5790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92BBA3-FF9F-4E47-8461-10978D8E8C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4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94823-D857-4A50-8333-F62588C08D8E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11929-B627-4F36-B621-50ADCBC06C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3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186E747-C06B-4696-817C-A58CABA03FFC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22CFF8-1883-40E4-8E63-3A164B7D0D7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2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850D333-15B0-46A2-86DB-C0387C8323C3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2857B0-A663-4F22-AD3B-0BFBF46A05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919C-A5D3-486B-B908-25EB68844B71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51028-DF2A-4961-8DAE-2A3A170FDFB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4CC-FF00-42E1-8382-479EEC3DCCB0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42D7-FF78-4899-A028-A245A7560C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14160F-1030-44B2-9D7E-579492D34430}" type="datetimeFigureOut">
              <a:rPr lang="en-US"/>
              <a:pPr>
                <a:defRPr/>
              </a:pPr>
              <a:t>12/27/2020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C33338D6-61DA-48D7-8AC6-1D1F56F9DE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16" r:id="rId4"/>
    <p:sldLayoutId id="2147483817" r:id="rId5"/>
    <p:sldLayoutId id="2147483824" r:id="rId6"/>
    <p:sldLayoutId id="2147483818" r:id="rId7"/>
    <p:sldLayoutId id="2147483825" r:id="rId8"/>
    <p:sldLayoutId id="2147483826" r:id="rId9"/>
    <p:sldLayoutId id="2147483819" r:id="rId10"/>
    <p:sldLayoutId id="21474838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5.wmf"/><Relationship Id="rId9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0.wmf"/><Relationship Id="rId9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09800"/>
            <a:ext cx="6629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Circuits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6002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7" y="107157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189384"/>
            <a:ext cx="4495800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HAPPY NEW YEAR!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38200"/>
            <a:ext cx="57054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6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Logic Circuits</a:t>
            </a:r>
            <a:endParaRPr lang="en-US" b="1" u="sng" dirty="0"/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7848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    Basic gates – IEEE standards</a:t>
            </a:r>
            <a:endParaRPr lang="en-US" b="1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524000"/>
            <a:ext cx="7467600" cy="4089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381000"/>
            <a:ext cx="7239000" cy="2305050"/>
          </a:xfrm>
          <a:noFill/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Derived gates</a:t>
            </a:r>
            <a:r>
              <a:rPr lang="en-US" sz="2600" b="1" dirty="0" smtClean="0"/>
              <a:t>:</a:t>
            </a:r>
            <a:r>
              <a:rPr lang="en-US" sz="2600" dirty="0" smtClean="0"/>
              <a:t>  </a:t>
            </a:r>
            <a:r>
              <a:rPr lang="en-US" sz="2500" b="1" dirty="0" smtClean="0"/>
              <a:t>XOR, NAND, NOR, NXOR</a:t>
            </a:r>
            <a:endParaRPr lang="en-US" sz="2500" b="1" dirty="0"/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924800" cy="4038600"/>
          </a:xfrm>
          <a:noFill/>
        </p:spPr>
      </p:pic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81600"/>
            <a:ext cx="76200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1</a:t>
            </a:r>
            <a:endParaRPr lang="en-US" sz="2800" b="1" u="sng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76400"/>
            <a:ext cx="7924800" cy="3886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2</a:t>
            </a:r>
            <a:endParaRPr lang="en-US" sz="2600" b="1" u="sng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229600" cy="4800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 smtClean="0"/>
              <a:t>Example 3</a:t>
            </a:r>
            <a:r>
              <a:rPr lang="en-US" sz="2600" b="1" dirty="0" smtClean="0"/>
              <a:t>. NAND is a universal gate</a:t>
            </a:r>
            <a:br>
              <a:rPr lang="en-US" sz="2600" b="1" dirty="0" smtClean="0"/>
            </a:br>
            <a:r>
              <a:rPr lang="en-US" sz="2600" b="1" dirty="0" smtClean="0"/>
              <a:t>      -</a:t>
            </a:r>
            <a:r>
              <a:rPr lang="en-US" sz="2400" b="1" dirty="0" smtClean="0"/>
              <a:t>it can be used to produce  all the other gates</a:t>
            </a:r>
            <a:endParaRPr lang="en-US" sz="2600" b="1" dirty="0"/>
          </a:p>
        </p:txBody>
      </p:sp>
      <p:pic>
        <p:nvPicPr>
          <p:cNvPr id="1536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295400"/>
            <a:ext cx="7696200" cy="4114800"/>
          </a:xfrm>
          <a:noFill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8800"/>
            <a:ext cx="3668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60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Combinational circuits</a:t>
            </a:r>
            <a:endParaRPr lang="en-US" sz="2600" b="1" dirty="0"/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694" y="62972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 smtClean="0"/>
              <a:t>Examples </a:t>
            </a:r>
            <a:r>
              <a:rPr lang="ro-RO" b="1" dirty="0" smtClean="0"/>
              <a:t>of useful combinational circuits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0010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GB" b="1" u="sng" dirty="0" smtClean="0"/>
              <a:t>Example 4</a:t>
            </a:r>
            <a:endParaRPr lang="en-US" dirty="0"/>
          </a:p>
        </p:txBody>
      </p:sp>
      <p:sp>
        <p:nvSpPr>
          <p:cNvPr id="184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</a:t>
            </a:r>
            <a:endParaRPr lang="en-US" sz="2600" b="1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620000" cy="51276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 (contd.)</a:t>
            </a:r>
            <a:endParaRPr lang="en-US" sz="2600" dirty="0"/>
          </a:p>
        </p:txBody>
      </p:sp>
      <p:sp>
        <p:nvSpPr>
          <p:cNvPr id="2048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1057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 (contd.)</a:t>
            </a:r>
            <a:endParaRPr lang="en-US" sz="2600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7391400" cy="375126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6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- bit parallel adder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9990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6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- bit parallel adder</a:t>
            </a:r>
            <a:r>
              <a:rPr lang="en-US" sz="3200" b="1" dirty="0" smtClean="0"/>
              <a:t> (contd.)</a:t>
            </a:r>
            <a:r>
              <a:rPr lang="ro-RO" sz="3200" b="1" dirty="0" smtClean="0"/>
              <a:t>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sp>
        <p:nvSpPr>
          <p:cNvPr id="23555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924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2156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3200" b="1" u="sng" dirty="0" smtClean="0"/>
              <a:t>Example 7</a:t>
            </a:r>
            <a:r>
              <a:rPr lang="en-US" sz="3200" b="1" dirty="0" smtClean="0"/>
              <a:t>. Full </a:t>
            </a:r>
            <a:r>
              <a:rPr lang="en-US" sz="3200" b="1" dirty="0" err="1" smtClean="0"/>
              <a:t>Subtractor</a:t>
            </a:r>
            <a:endParaRPr lang="en-US" dirty="0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0772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7</a:t>
            </a:r>
            <a:r>
              <a:rPr lang="en-US" sz="2800" b="1" dirty="0" smtClean="0"/>
              <a:t>. Full </a:t>
            </a:r>
            <a:r>
              <a:rPr lang="en-US" sz="2800" b="1" dirty="0" err="1" smtClean="0"/>
              <a:t>Subtractor</a:t>
            </a:r>
            <a:r>
              <a:rPr lang="en-US" sz="2800" b="1" dirty="0" smtClean="0"/>
              <a:t> (contd.)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75438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7</a:t>
            </a:r>
            <a:r>
              <a:rPr lang="en-US" sz="3200" b="1" dirty="0" smtClean="0"/>
              <a:t>. Full </a:t>
            </a:r>
            <a:r>
              <a:rPr lang="en-US" sz="3200" b="1" dirty="0" err="1" smtClean="0"/>
              <a:t>Subtractor</a:t>
            </a:r>
            <a:r>
              <a:rPr lang="en-US" sz="3200" b="1" dirty="0" smtClean="0"/>
              <a:t> (contd.)</a:t>
            </a:r>
            <a:endParaRPr lang="en-US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7696200" cy="44275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8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- bi</a:t>
            </a:r>
            <a:r>
              <a:rPr lang="en-US" sz="3200" b="1" dirty="0" smtClean="0"/>
              <a:t>t</a:t>
            </a:r>
            <a:r>
              <a:rPr lang="ro-RO" sz="3200" b="1" dirty="0" smtClean="0"/>
              <a:t> parallel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subtractor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sp>
        <p:nvSpPr>
          <p:cNvPr id="2765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696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82000" cy="10668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2600" b="1" u="sng" dirty="0" smtClean="0"/>
              <a:t>Example 8</a:t>
            </a:r>
            <a:r>
              <a:rPr lang="en-US" sz="2600" b="1" dirty="0" smtClean="0"/>
              <a:t>. </a:t>
            </a:r>
            <a:r>
              <a:rPr lang="ro-RO" sz="2600" b="1" i="1" dirty="0" smtClean="0"/>
              <a:t>n</a:t>
            </a:r>
            <a:r>
              <a:rPr lang="ro-RO" sz="2600" b="1" dirty="0" smtClean="0"/>
              <a:t> - bit parallel </a:t>
            </a:r>
            <a:r>
              <a:rPr lang="en-US" sz="2600" b="1" dirty="0" err="1" smtClean="0"/>
              <a:t>subtractor</a:t>
            </a:r>
            <a:r>
              <a:rPr lang="en-US" sz="2600" b="1" dirty="0" smtClean="0"/>
              <a:t> (contd.)</a:t>
            </a:r>
            <a:r>
              <a:rPr lang="ro-RO" sz="2600" b="1" dirty="0" smtClean="0"/>
              <a:t> </a:t>
            </a:r>
            <a:r>
              <a:rPr lang="en-US" sz="2600" b="1" dirty="0" smtClean="0"/>
              <a:t/>
            </a:r>
            <a:br>
              <a:rPr lang="en-US" sz="2600" b="1" dirty="0" smtClean="0"/>
            </a:br>
            <a:endParaRPr lang="en-US" sz="2600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37560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87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9</a:t>
            </a:r>
            <a:r>
              <a:rPr lang="en-US" sz="2600" b="1" dirty="0" smtClean="0"/>
              <a:t>. Encoder</a:t>
            </a:r>
            <a:endParaRPr lang="en-US" sz="2600" b="1" dirty="0"/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9</a:t>
            </a:r>
            <a:r>
              <a:rPr lang="en-US" sz="2600" b="1" dirty="0" smtClean="0"/>
              <a:t>. Encoder (contd.)</a:t>
            </a:r>
            <a:endParaRPr lang="en-US" sz="26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8001000" cy="368617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10</a:t>
            </a:r>
            <a:r>
              <a:rPr lang="en-US" sz="2600" b="1" dirty="0" smtClean="0"/>
              <a:t>. Decoder</a:t>
            </a:r>
            <a:endParaRPr lang="en-US" sz="2600" dirty="0"/>
          </a:p>
        </p:txBody>
      </p:sp>
      <p:pic>
        <p:nvPicPr>
          <p:cNvPr id="3174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772400" cy="51514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10</a:t>
            </a:r>
            <a:r>
              <a:rPr lang="en-US" sz="3200" b="1" dirty="0" smtClean="0"/>
              <a:t>. Decoder (contd.)</a:t>
            </a:r>
            <a:endParaRPr lang="en-US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467600" cy="4648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r>
              <a:rPr lang="en-US" dirty="0" smtClean="0"/>
              <a:t>.     </a:t>
            </a:r>
            <a:r>
              <a:rPr lang="en-US" b="1" dirty="0" smtClean="0"/>
              <a:t>7 segments Circuit</a:t>
            </a:r>
            <a:endParaRPr lang="en-US" dirty="0"/>
          </a:p>
        </p:txBody>
      </p:sp>
      <p:pic>
        <p:nvPicPr>
          <p:cNvPr id="3379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05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563563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r>
              <a:rPr lang="en-US" dirty="0" smtClean="0"/>
              <a:t>. </a:t>
            </a:r>
            <a:r>
              <a:rPr lang="en-US" b="1" dirty="0" smtClean="0"/>
              <a:t>7 segments Circuit</a:t>
            </a:r>
            <a:endParaRPr lang="en-US" dirty="0"/>
          </a:p>
        </p:txBody>
      </p:sp>
      <p:sp>
        <p:nvSpPr>
          <p:cNvPr id="348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74676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0"/>
            <a:ext cx="1000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763000" cy="762000"/>
          </a:xfrm>
        </p:spPr>
        <p:txBody>
          <a:bodyPr>
            <a:noAutofit/>
          </a:bodyPr>
          <a:lstStyle/>
          <a:p>
            <a:r>
              <a:rPr lang="en-GB" sz="2000" b="1" u="sng" dirty="0" smtClean="0"/>
              <a:t>Example 12. </a:t>
            </a:r>
            <a:r>
              <a:rPr lang="en-GB" sz="2000" b="1" dirty="0" smtClean="0"/>
              <a:t>Implement </a:t>
            </a:r>
            <a:r>
              <a:rPr lang="en-GB" sz="2000" b="1" dirty="0"/>
              <a:t>the </a:t>
            </a:r>
            <a:r>
              <a:rPr lang="en-GB" sz="2000" b="1" dirty="0" smtClean="0"/>
              <a:t>Logic Circuit </a:t>
            </a:r>
            <a:r>
              <a:rPr lang="en-GB" sz="2000" b="1" dirty="0"/>
              <a:t>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r>
              <a:rPr lang="en-GB" sz="2000" b="1" i="1" dirty="0" smtClean="0"/>
              <a:t/>
            </a:r>
            <a:br>
              <a:rPr lang="en-GB" sz="2000" b="1" i="1" dirty="0" smtClean="0"/>
            </a:br>
            <a:r>
              <a:rPr lang="en-GB" sz="2000" b="1" i="1" dirty="0" smtClean="0"/>
              <a:t>				</a:t>
            </a:r>
            <a:r>
              <a:rPr lang="en-GB" sz="2000" b="1" dirty="0" smtClean="0"/>
              <a:t>using </a:t>
            </a:r>
            <a:r>
              <a:rPr lang="en-GB" sz="2000" b="1" dirty="0"/>
              <a:t>only </a:t>
            </a:r>
            <a:r>
              <a:rPr lang="en-GB" sz="2000" b="1" u="sng" dirty="0"/>
              <a:t>NAND</a:t>
            </a:r>
            <a:r>
              <a:rPr lang="en-GB" sz="2000" b="1" dirty="0"/>
              <a:t> </a:t>
            </a:r>
            <a:r>
              <a:rPr lang="en-GB" sz="2000" b="1" dirty="0" smtClean="0"/>
              <a:t>gates </a:t>
            </a:r>
            <a:r>
              <a:rPr lang="en-US" sz="2000" b="1" dirty="0"/>
              <a:t/>
            </a:r>
            <a:br>
              <a:rPr lang="en-US" sz="2000" b="1" dirty="0"/>
            </a:b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229600" cy="396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2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5934"/>
            <a:ext cx="7467600" cy="334962"/>
          </a:xfrm>
        </p:spPr>
        <p:txBody>
          <a:bodyPr>
            <a:noAutofit/>
          </a:bodyPr>
          <a:lstStyle/>
          <a:p>
            <a:r>
              <a:rPr lang="en-GB" sz="2400" b="1" u="sng" dirty="0"/>
              <a:t>Example </a:t>
            </a:r>
            <a:r>
              <a:rPr lang="en-GB" sz="2400" b="1" u="sng" dirty="0" smtClean="0"/>
              <a:t>12(contd.)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96200" y="685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29595"/>
              </p:ext>
            </p:extLst>
          </p:nvPr>
        </p:nvGraphicFramePr>
        <p:xfrm>
          <a:off x="7013664" y="4191001"/>
          <a:ext cx="1330566" cy="30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3" imgW="748975" imgH="203112" progId="Equation.3">
                  <p:embed/>
                </p:oleObj>
              </mc:Choice>
              <mc:Fallback>
                <p:oleObj name="Equation" r:id="rId3" imgW="748975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664" y="4191001"/>
                        <a:ext cx="1330566" cy="304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0" y="106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640724"/>
              </p:ext>
            </p:extLst>
          </p:nvPr>
        </p:nvGraphicFramePr>
        <p:xfrm>
          <a:off x="7043379" y="4648200"/>
          <a:ext cx="146304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5" imgW="990170" imgH="203112" progId="Equation.3">
                  <p:embed/>
                </p:oleObj>
              </mc:Choice>
              <mc:Fallback>
                <p:oleObj name="Equation" r:id="rId5" imgW="990170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379" y="4648200"/>
                        <a:ext cx="146304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4172311"/>
            <a:ext cx="4553132" cy="25301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36" y="607154"/>
            <a:ext cx="7304328" cy="3429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13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51"/>
            <a:ext cx="7467600" cy="808038"/>
          </a:xfrm>
        </p:spPr>
        <p:txBody>
          <a:bodyPr>
            <a:normAutofit/>
          </a:bodyPr>
          <a:lstStyle/>
          <a:p>
            <a:r>
              <a:rPr lang="en-GB" sz="2000" b="1" u="sng" dirty="0"/>
              <a:t>Example </a:t>
            </a:r>
            <a:r>
              <a:rPr lang="en-GB" sz="2000" b="1" u="sng" dirty="0" smtClean="0"/>
              <a:t>13. </a:t>
            </a:r>
            <a:r>
              <a:rPr lang="en-GB" sz="2000" b="1" dirty="0" smtClean="0"/>
              <a:t>Implement </a:t>
            </a:r>
            <a:r>
              <a:rPr lang="en-GB" sz="2000" b="1" dirty="0"/>
              <a:t>the Logic Circuit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br>
              <a:rPr lang="en-GB" sz="2000" b="1" i="1" dirty="0"/>
            </a:br>
            <a:r>
              <a:rPr lang="en-GB" sz="2000" b="1" i="1" dirty="0"/>
              <a:t>				</a:t>
            </a:r>
            <a:r>
              <a:rPr lang="en-GB" sz="2000" b="1" dirty="0"/>
              <a:t>using only </a:t>
            </a:r>
            <a:r>
              <a:rPr lang="en-GB" sz="2000" b="1" u="heavy" dirty="0" smtClean="0"/>
              <a:t>NOR</a:t>
            </a:r>
            <a:r>
              <a:rPr lang="en-GB" sz="2000" b="1" dirty="0" smtClean="0"/>
              <a:t> </a:t>
            </a:r>
            <a:r>
              <a:rPr lang="en-GB" sz="2000" b="1" dirty="0"/>
              <a:t>gates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0"/>
            <a:ext cx="8610600" cy="4724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97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GB" sz="2400" b="1" u="sng" dirty="0"/>
              <a:t>Example </a:t>
            </a:r>
            <a:r>
              <a:rPr lang="en-GB" sz="2400" b="1" u="sng" dirty="0" smtClean="0"/>
              <a:t>13(contd</a:t>
            </a:r>
            <a:r>
              <a:rPr lang="en-GB" sz="2400" b="1" u="sng" dirty="0"/>
              <a:t>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2000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69455"/>
              </p:ext>
            </p:extLst>
          </p:nvPr>
        </p:nvGraphicFramePr>
        <p:xfrm>
          <a:off x="7347148" y="4733925"/>
          <a:ext cx="1169151" cy="30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3" imgW="812447" imgH="215806" progId="Equation.3">
                  <p:embed/>
                </p:oleObj>
              </mc:Choice>
              <mc:Fallback>
                <p:oleObj name="Equation" r:id="rId3" imgW="812447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7148" y="4733925"/>
                        <a:ext cx="1169151" cy="304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396491" y="1828799"/>
            <a:ext cx="97534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70852"/>
              </p:ext>
            </p:extLst>
          </p:nvPr>
        </p:nvGraphicFramePr>
        <p:xfrm>
          <a:off x="7160525" y="5150899"/>
          <a:ext cx="152854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5" imgW="1066337" imgH="215806" progId="Equation.3">
                  <p:embed/>
                </p:oleObj>
              </mc:Choice>
              <mc:Fallback>
                <p:oleObj name="Equation" r:id="rId5" imgW="106633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525" y="5150899"/>
                        <a:ext cx="1528549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453" y="10064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685" y="685800"/>
            <a:ext cx="7172325" cy="4048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705350"/>
            <a:ext cx="52101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5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Binary codes </a:t>
            </a:r>
            <a:endParaRPr lang="en-US" b="1" u="sng" dirty="0"/>
          </a:p>
        </p:txBody>
      </p:sp>
      <p:sp>
        <p:nvSpPr>
          <p:cNvPr id="368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Binary codes</a:t>
            </a:r>
            <a:r>
              <a:rPr lang="en-US" b="1" dirty="0" smtClean="0"/>
              <a:t> (contd.) </a:t>
            </a:r>
            <a:endParaRPr lang="en-US" dirty="0"/>
          </a:p>
        </p:txBody>
      </p:sp>
      <p:pic>
        <p:nvPicPr>
          <p:cNvPr id="378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77724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14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89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7620000" cy="5029200"/>
          </a:xfrm>
          <a:noFill/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38200"/>
            <a:ext cx="6248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3C29AC-D2BC-445D-9925-BDE8E3A84AE3}"/>
</file>

<file path=customXml/itemProps2.xml><?xml version="1.0" encoding="utf-8"?>
<ds:datastoreItem xmlns:ds="http://schemas.openxmlformats.org/officeDocument/2006/customXml" ds:itemID="{A9027DF0-E80A-4D38-AB6B-DF76B6A604F9}"/>
</file>

<file path=customXml/itemProps3.xml><?xml version="1.0" encoding="utf-8"?>
<ds:datastoreItem xmlns:ds="http://schemas.openxmlformats.org/officeDocument/2006/customXml" ds:itemID="{FDB96BD9-D874-4D38-9184-9ACDA521EF03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1575</TotalTime>
  <Words>196</Words>
  <Application>Microsoft Office PowerPoint</Application>
  <PresentationFormat>On-screen Show (4:3)</PresentationFormat>
  <Paragraphs>35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Century Schoolbook</vt:lpstr>
      <vt:lpstr>Times New Roman</vt:lpstr>
      <vt:lpstr>Wingdings</vt:lpstr>
      <vt:lpstr>Wingdings 2</vt:lpstr>
      <vt:lpstr>Oriel</vt:lpstr>
      <vt:lpstr>Equation</vt:lpstr>
      <vt:lpstr>LOGIC Circuits</vt:lpstr>
      <vt:lpstr>     HAPPY NEW YEAR! </vt:lpstr>
      <vt:lpstr>Logic Circuits</vt:lpstr>
      <vt:lpstr>    Basic gates – IEEE standards</vt:lpstr>
      <vt:lpstr>PowerPoint Presentation</vt:lpstr>
      <vt:lpstr>Derived gates:  XOR, NAND, NOR, NXOR</vt:lpstr>
      <vt:lpstr>Example 1</vt:lpstr>
      <vt:lpstr>Example 2</vt:lpstr>
      <vt:lpstr>Example 3. NAND is a universal gate       -it can be used to produce  all the other gates</vt:lpstr>
      <vt:lpstr>Combinational circuits</vt:lpstr>
      <vt:lpstr>Examples of useful combinational circuits </vt:lpstr>
      <vt:lpstr>Example 4</vt:lpstr>
      <vt:lpstr>Example 5. Full Adder</vt:lpstr>
      <vt:lpstr>Example 5. Full Adder (contd.)</vt:lpstr>
      <vt:lpstr>Example 5. Full Adder (contd.)</vt:lpstr>
      <vt:lpstr>Example 6. n - bit parallel adder  </vt:lpstr>
      <vt:lpstr>Example 6. n - bit parallel adder (contd.)  </vt:lpstr>
      <vt:lpstr>Example 7. Full Subtractor</vt:lpstr>
      <vt:lpstr>Example 7. Full Subtractor (contd.)</vt:lpstr>
      <vt:lpstr>Example 7. Full Subtractor (contd.)</vt:lpstr>
      <vt:lpstr>Example 8. n - bit parallel subtractor </vt:lpstr>
      <vt:lpstr>Example 8. n - bit parallel subtractor (contd.)  </vt:lpstr>
      <vt:lpstr>Example 9. Encoder</vt:lpstr>
      <vt:lpstr>Example 9. Encoder (contd.)</vt:lpstr>
      <vt:lpstr>Example 10. Decoder</vt:lpstr>
      <vt:lpstr>Example 10. Decoder (contd.)</vt:lpstr>
      <vt:lpstr>Example 11.     7 segments Circuit</vt:lpstr>
      <vt:lpstr>Example 11. 7 segments Circuit</vt:lpstr>
      <vt:lpstr>Example 12. Implement the Logic Circuit for S3      using only NAND gates  </vt:lpstr>
      <vt:lpstr>Example 12(contd.)</vt:lpstr>
      <vt:lpstr>Example 13. Implement the Logic Circuit for S3      using only NOR gates</vt:lpstr>
      <vt:lpstr>Example 13(contd.)</vt:lpstr>
      <vt:lpstr>Binary codes </vt:lpstr>
      <vt:lpstr>Binary codes (contd.) </vt:lpstr>
      <vt:lpstr>Example 14.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167</cp:revision>
  <dcterms:created xsi:type="dcterms:W3CDTF">2017-10-24T14:24:02Z</dcterms:created>
  <dcterms:modified xsi:type="dcterms:W3CDTF">2020-12-27T15:56:43Z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